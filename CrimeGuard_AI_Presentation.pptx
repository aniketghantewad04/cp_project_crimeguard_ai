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2"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10"/>
  </p:normalViewPr>
  <p:slideViewPr>
    <p:cSldViewPr snapToGrid="0" snapToObjects="1">
      <p:cViewPr varScale="1">
        <p:scale>
          <a:sx n="82" d="100"/>
          <a:sy n="82"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506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3"/>
        </a:solidFill>
        <a:effectLst/>
      </p:bgPr>
    </p:bg>
    <p:spTree>
      <p:nvGrpSpPr>
        <p:cNvPr id="1" name=""/>
        <p:cNvGrpSpPr/>
        <p:nvPr/>
      </p:nvGrpSpPr>
      <p:grpSpPr>
        <a:xfrm>
          <a:off x="0" y="0"/>
          <a:ext cx="0" cy="0"/>
          <a:chOff x="0" y="0"/>
          <a:chExt cx="0" cy="0"/>
        </a:xfrm>
      </p:grpSpPr>
      <p:sp>
        <p:nvSpPr>
          <p:cNvPr id="2" name="Shape 0"/>
          <p:cNvSpPr/>
          <p:nvPr/>
        </p:nvSpPr>
        <p:spPr>
          <a:xfrm>
            <a:off x="-1828800" y="-2286000"/>
            <a:ext cx="6400800" cy="6400800"/>
          </a:xfrm>
          <a:prstGeom prst="ellipse">
            <a:avLst/>
          </a:prstGeom>
          <a:solidFill>
            <a:srgbClr val="3B82F6">
              <a:alpha val="12000"/>
            </a:srgbClr>
          </a:solidFill>
          <a:ln/>
        </p:spPr>
      </p:sp>
      <p:sp>
        <p:nvSpPr>
          <p:cNvPr id="3" name="Shape 1"/>
          <p:cNvSpPr/>
          <p:nvPr/>
        </p:nvSpPr>
        <p:spPr>
          <a:xfrm>
            <a:off x="8229600" y="3200400"/>
            <a:ext cx="6400800" cy="5486400"/>
          </a:xfrm>
          <a:prstGeom prst="ellipse">
            <a:avLst/>
          </a:prstGeom>
          <a:solidFill>
            <a:srgbClr val="EF4444">
              <a:alpha val="8000"/>
            </a:srgbClr>
          </a:solidFill>
          <a:ln/>
        </p:spPr>
      </p:sp>
      <p:sp>
        <p:nvSpPr>
          <p:cNvPr id="4" name="Shape 2"/>
          <p:cNvSpPr/>
          <p:nvPr/>
        </p:nvSpPr>
        <p:spPr>
          <a:xfrm>
            <a:off x="7558888" y="1074420"/>
            <a:ext cx="914400" cy="914400"/>
          </a:xfrm>
          <a:prstGeom prst="ellipse">
            <a:avLst/>
          </a:prstGeom>
          <a:solidFill>
            <a:srgbClr val="12233F"/>
          </a:solidFill>
          <a:ln/>
        </p:spPr>
      </p:sp>
      <p:pic>
        <p:nvPicPr>
          <p:cNvPr id="5" name="Image 0" descr="/home/claude/ppt_assets/icons/shield.png"/>
          <p:cNvPicPr>
            <a:picLocks noChangeAspect="1"/>
          </p:cNvPicPr>
          <p:nvPr/>
        </p:nvPicPr>
        <p:blipFill>
          <a:blip r:embed="rId3"/>
          <a:stretch>
            <a:fillRect/>
          </a:stretch>
        </p:blipFill>
        <p:spPr>
          <a:xfrm>
            <a:off x="7772400" y="1325880"/>
            <a:ext cx="457200" cy="457200"/>
          </a:xfrm>
          <a:prstGeom prst="rect">
            <a:avLst/>
          </a:prstGeom>
        </p:spPr>
      </p:pic>
      <p:sp>
        <p:nvSpPr>
          <p:cNvPr id="6" name="Text 3"/>
          <p:cNvSpPr/>
          <p:nvPr/>
        </p:nvSpPr>
        <p:spPr>
          <a:xfrm>
            <a:off x="0" y="2148840"/>
            <a:ext cx="12191695" cy="1005840"/>
          </a:xfrm>
          <a:prstGeom prst="rect">
            <a:avLst/>
          </a:prstGeom>
          <a:noFill/>
          <a:ln/>
        </p:spPr>
        <p:txBody>
          <a:bodyPr wrap="square" rtlCol="0" anchor="ctr"/>
          <a:lstStyle/>
          <a:p>
            <a:pPr marL="0" indent="0" algn="ctr">
              <a:buNone/>
            </a:pPr>
            <a:r>
              <a:rPr lang="en-US" sz="6600" b="1" kern="0" spc="100" dirty="0">
                <a:solidFill>
                  <a:srgbClr val="FFFFFF"/>
                </a:solidFill>
                <a:latin typeface="Franklin Gothic Demi" panose="020B0703020102020204" pitchFamily="34" charset="0"/>
                <a:ea typeface="Arial" pitchFamily="34" charset="-122"/>
                <a:cs typeface="Arial" pitchFamily="34" charset="-120"/>
              </a:rPr>
              <a:t>CRIME</a:t>
            </a:r>
            <a:r>
              <a:rPr lang="en-US" sz="6600" b="1" kern="0" spc="100" dirty="0">
                <a:solidFill>
                  <a:srgbClr val="3B82F6"/>
                </a:solidFill>
                <a:latin typeface="Franklin Gothic Demi" panose="020B0703020102020204" pitchFamily="34" charset="0"/>
                <a:ea typeface="Arial" pitchFamily="34" charset="-122"/>
                <a:cs typeface="Arial" pitchFamily="34" charset="-120"/>
              </a:rPr>
              <a:t>GUARD</a:t>
            </a:r>
            <a:r>
              <a:rPr lang="en-US" sz="5400" b="1" kern="0" spc="100" dirty="0">
                <a:solidFill>
                  <a:srgbClr val="8B93A7"/>
                </a:solidFill>
                <a:latin typeface="Arial" pitchFamily="34" charset="0"/>
                <a:ea typeface="Arial" pitchFamily="34" charset="-122"/>
                <a:cs typeface="Arial" pitchFamily="34" charset="-120"/>
              </a:rPr>
              <a:t> </a:t>
            </a:r>
            <a:r>
              <a:rPr lang="en-US" sz="6600" b="1" kern="0" spc="100" dirty="0">
                <a:solidFill>
                  <a:srgbClr val="8B93A7"/>
                </a:solidFill>
                <a:latin typeface="Franklin Gothic Demi Cond" panose="020B0706030402020204" pitchFamily="34" charset="0"/>
                <a:ea typeface="Arial" pitchFamily="34" charset="-122"/>
                <a:cs typeface="Arial" pitchFamily="34" charset="-120"/>
              </a:rPr>
              <a:t>AI</a:t>
            </a:r>
            <a:endParaRPr lang="en-US" sz="6600" dirty="0">
              <a:latin typeface="Franklin Gothic Demi Cond" panose="020B0706030402020204" pitchFamily="34" charset="0"/>
            </a:endParaRPr>
          </a:p>
        </p:txBody>
      </p:sp>
      <p:sp>
        <p:nvSpPr>
          <p:cNvPr id="7" name="Text 4"/>
          <p:cNvSpPr/>
          <p:nvPr/>
        </p:nvSpPr>
        <p:spPr>
          <a:xfrm>
            <a:off x="0" y="3127248"/>
            <a:ext cx="12191695" cy="502920"/>
          </a:xfrm>
          <a:prstGeom prst="rect">
            <a:avLst/>
          </a:prstGeom>
          <a:noFill/>
          <a:ln/>
        </p:spPr>
        <p:txBody>
          <a:bodyPr wrap="square" rtlCol="0" anchor="ctr"/>
          <a:lstStyle/>
          <a:p>
            <a:pPr marL="0" indent="0" algn="ctr">
              <a:buNone/>
            </a:pPr>
            <a:r>
              <a:rPr lang="en-US" sz="2000" i="1" dirty="0">
                <a:solidFill>
                  <a:srgbClr val="8B93A7"/>
                </a:solidFill>
                <a:latin typeface="Berlin Sans FB Demi" panose="020E0802020502020306" pitchFamily="34" charset="0"/>
                <a:ea typeface="Calibri" pitchFamily="34" charset="-122"/>
                <a:cs typeface="Calibri" pitchFamily="34" charset="-120"/>
              </a:rPr>
              <a:t>Crime Resolution, </a:t>
            </a:r>
            <a:r>
              <a:rPr lang="en-US" sz="2000" i="1" dirty="0">
                <a:solidFill>
                  <a:srgbClr val="3B82F6"/>
                </a:solidFill>
                <a:latin typeface="Berlin Sans FB Demi" panose="020E0802020502020306" pitchFamily="34" charset="0"/>
                <a:ea typeface="Calibri" pitchFamily="34" charset="-122"/>
                <a:cs typeface="Calibri" pitchFamily="34" charset="-120"/>
              </a:rPr>
              <a:t>Predicted.</a:t>
            </a:r>
            <a:r>
              <a:rPr lang="en-US" sz="2000" i="1" dirty="0">
                <a:solidFill>
                  <a:srgbClr val="000000"/>
                </a:solidFill>
                <a:latin typeface="Berlin Sans FB Demi" panose="020E0802020502020306" pitchFamily="34" charset="0"/>
                <a:ea typeface="Calibri" pitchFamily="34" charset="-122"/>
                <a:cs typeface="Calibri" pitchFamily="34" charset="-120"/>
              </a:rPr>
              <a:t> </a:t>
            </a:r>
            <a:r>
              <a:rPr lang="en-US" sz="2000" i="1" dirty="0">
                <a:solidFill>
                  <a:srgbClr val="EF4444"/>
                </a:solidFill>
                <a:latin typeface="Berlin Sans FB Demi" panose="020E0802020502020306" pitchFamily="34" charset="0"/>
                <a:ea typeface="Calibri" pitchFamily="34" charset="-122"/>
                <a:cs typeface="Calibri" pitchFamily="34" charset="-120"/>
              </a:rPr>
              <a:t>Actioned.</a:t>
            </a:r>
            <a:endParaRPr lang="en-US" sz="2000" dirty="0">
              <a:latin typeface="Berlin Sans FB Demi" panose="020E0802020502020306" pitchFamily="34" charset="0"/>
            </a:endParaRPr>
          </a:p>
        </p:txBody>
      </p:sp>
      <p:sp>
        <p:nvSpPr>
          <p:cNvPr id="8" name="Text 5"/>
          <p:cNvSpPr/>
          <p:nvPr/>
        </p:nvSpPr>
        <p:spPr>
          <a:xfrm>
            <a:off x="0" y="3703320"/>
            <a:ext cx="12191695" cy="365760"/>
          </a:xfrm>
          <a:prstGeom prst="rect">
            <a:avLst/>
          </a:prstGeom>
          <a:noFill/>
          <a:ln/>
        </p:spPr>
        <p:txBody>
          <a:bodyPr wrap="square" rtlCol="0" anchor="ctr"/>
          <a:lstStyle/>
          <a:p>
            <a:pPr marL="0" indent="0" algn="ctr">
              <a:buNone/>
            </a:pPr>
            <a:r>
              <a:rPr lang="en-US" sz="1400" dirty="0">
                <a:solidFill>
                  <a:srgbClr val="8B93A7"/>
                </a:solidFill>
                <a:latin typeface="Berlin Sans FB Demi" panose="020E0802020502020306" pitchFamily="34" charset="0"/>
                <a:ea typeface="Calibri" pitchFamily="34" charset="-122"/>
                <a:cs typeface="Calibri" pitchFamily="34" charset="-120"/>
              </a:rPr>
              <a:t>AI-Powered Crime Resolution Prediction &amp; Investigation Support</a:t>
            </a:r>
            <a:endParaRPr lang="en-US" sz="1400" dirty="0">
              <a:latin typeface="Berlin Sans FB Demi" panose="020E0802020502020306" pitchFamily="34" charset="0"/>
            </a:endParaRPr>
          </a:p>
        </p:txBody>
      </p:sp>
      <p:sp>
        <p:nvSpPr>
          <p:cNvPr id="9" name="Shape 6"/>
          <p:cNvSpPr/>
          <p:nvPr/>
        </p:nvSpPr>
        <p:spPr>
          <a:xfrm>
            <a:off x="3718408" y="4434840"/>
            <a:ext cx="4754880" cy="566928"/>
          </a:xfrm>
          <a:prstGeom prst="roundRect">
            <a:avLst>
              <a:gd name="adj" fmla="val 12903"/>
            </a:avLst>
          </a:prstGeom>
          <a:solidFill>
            <a:srgbClr val="0C1220"/>
          </a:solidFill>
          <a:ln w="12700">
            <a:solidFill>
              <a:srgbClr val="1E293B"/>
            </a:solidFill>
            <a:prstDash val="solid"/>
          </a:ln>
        </p:spPr>
      </p:sp>
      <p:sp>
        <p:nvSpPr>
          <p:cNvPr id="10" name="Text 7"/>
          <p:cNvSpPr/>
          <p:nvPr/>
        </p:nvSpPr>
        <p:spPr>
          <a:xfrm>
            <a:off x="3718408" y="4434840"/>
            <a:ext cx="4754880" cy="566928"/>
          </a:xfrm>
          <a:prstGeom prst="rect">
            <a:avLst/>
          </a:prstGeom>
          <a:noFill/>
          <a:ln/>
        </p:spPr>
        <p:txBody>
          <a:bodyPr wrap="square" rtlCol="0" anchor="ctr"/>
          <a:lstStyle/>
          <a:p>
            <a:pPr algn="ctr"/>
            <a:r>
              <a:rPr lang="en-US" sz="1050" kern="0" spc="150" dirty="0">
                <a:solidFill>
                  <a:srgbClr val="E2E8F0"/>
                </a:solidFill>
                <a:latin typeface="Courier New" pitchFamily="34" charset="0"/>
                <a:ea typeface="Courier New" pitchFamily="34" charset="-122"/>
                <a:cs typeface="Courier New" pitchFamily="34" charset="-120"/>
              </a:rPr>
              <a:t>· CAPSTONE PROJECT PRESENTATION  </a:t>
            </a:r>
          </a:p>
          <a:p>
            <a:pPr marL="0" indent="0" algn="ctr">
              <a:buNone/>
            </a:pPr>
            <a:r>
              <a:rPr lang="en-US" sz="1050" kern="0" spc="150" dirty="0">
                <a:solidFill>
                  <a:srgbClr val="E2E8F0"/>
                </a:solidFill>
                <a:latin typeface="Courier New" pitchFamily="34" charset="0"/>
                <a:ea typeface="Courier New" pitchFamily="34" charset="-122"/>
                <a:cs typeface="Courier New" pitchFamily="34" charset="-120"/>
              </a:rPr>
              <a:t>· MACHINE LEARNING</a:t>
            </a:r>
            <a:endParaRPr lang="en-US" sz="1050" dirty="0"/>
          </a:p>
        </p:txBody>
      </p:sp>
      <p:sp>
        <p:nvSpPr>
          <p:cNvPr id="11" name="Text 8"/>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12" name="Text 9"/>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01</a:t>
            </a:r>
            <a:endParaRPr lang="en-US" sz="900" dirty="0"/>
          </a:p>
        </p:txBody>
      </p:sp>
      <p:pic>
        <p:nvPicPr>
          <p:cNvPr id="16" name="Graphic 15">
            <a:extLst>
              <a:ext uri="{FF2B5EF4-FFF2-40B4-BE49-F238E27FC236}">
                <a16:creationId xmlns:a16="http://schemas.microsoft.com/office/drawing/2014/main" id="{0743E3FF-3160-D0E8-9BDC-7C5A698A8B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4980" y="2150745"/>
            <a:ext cx="1120140" cy="11201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487374" y="332170"/>
            <a:ext cx="7315200" cy="320040"/>
          </a:xfrm>
          <a:prstGeom prst="rect">
            <a:avLst/>
          </a:prstGeom>
          <a:noFill/>
          <a:ln/>
        </p:spPr>
        <p:txBody>
          <a:bodyPr wrap="square" rtlCol="0" anchor="ctr"/>
          <a:lstStyle/>
          <a:p>
            <a:pPr marL="0" indent="0">
              <a:buNone/>
            </a:pPr>
            <a:r>
              <a:rPr lang="en-US" sz="1600" b="1" kern="0" spc="300" dirty="0">
                <a:solidFill>
                  <a:srgbClr val="3B82F6"/>
                </a:solidFill>
                <a:latin typeface="Courier New" pitchFamily="34" charset="0"/>
                <a:cs typeface="Courier New" pitchFamily="34" charset="-120"/>
              </a:rPr>
              <a:t>Problem statement</a:t>
            </a:r>
            <a:endParaRPr lang="en-US" sz="1600" dirty="0"/>
          </a:p>
        </p:txBody>
      </p:sp>
      <p:sp>
        <p:nvSpPr>
          <p:cNvPr id="3" name="Text 1"/>
          <p:cNvSpPr/>
          <p:nvPr/>
        </p:nvSpPr>
        <p:spPr>
          <a:xfrm>
            <a:off x="487374" y="1043909"/>
            <a:ext cx="11247121" cy="822960"/>
          </a:xfrm>
          <a:prstGeom prst="rect">
            <a:avLst/>
          </a:prstGeom>
          <a:noFill/>
          <a:ln/>
        </p:spPr>
        <p:txBody>
          <a:bodyPr wrap="square" rtlCol="0" anchor="ctr"/>
          <a:lstStyle/>
          <a:p>
            <a:endParaRPr lang="en-IN" sz="1600" i="1" dirty="0">
              <a:solidFill>
                <a:schemeClr val="bg1">
                  <a:lumMod val="95000"/>
                </a:schemeClr>
              </a:solidFill>
              <a:latin typeface="Aptos Display" panose="020B0004020202020204" pitchFamily="34" charset="0"/>
            </a:endParaRPr>
          </a:p>
          <a:p>
            <a:r>
              <a:rPr lang="en-IN" sz="1600" dirty="0">
                <a:solidFill>
                  <a:schemeClr val="bg1">
                    <a:lumMod val="95000"/>
                  </a:schemeClr>
                </a:solidFill>
                <a:latin typeface="Aptos Display" panose="020B0004020202020204" pitchFamily="34" charset="0"/>
              </a:rPr>
              <a:t>In an era of rising urban challenges and limited law enforcement resources, the critical question is </a:t>
            </a:r>
          </a:p>
          <a:p>
            <a:r>
              <a:rPr lang="en-IN" sz="1600" b="1" dirty="0">
                <a:solidFill>
                  <a:srgbClr val="FF0000"/>
                </a:solidFill>
                <a:latin typeface="Aptos Display" panose="020B0004020202020204" pitchFamily="34" charset="0"/>
              </a:rPr>
              <a:t>How can we predict and improve crime resolution rates while enhancing overall public safety ?</a:t>
            </a:r>
            <a:endParaRPr lang="en-IN" sz="1600" b="1" i="1" dirty="0">
              <a:solidFill>
                <a:srgbClr val="FF0000"/>
              </a:solidFill>
              <a:latin typeface="Aptos Display" panose="020B0004020202020204" pitchFamily="34" charset="0"/>
            </a:endParaRPr>
          </a:p>
          <a:p>
            <a:r>
              <a:rPr lang="en-IN" sz="1600" i="1" dirty="0">
                <a:solidFill>
                  <a:schemeClr val="bg1">
                    <a:lumMod val="95000"/>
                  </a:schemeClr>
                </a:solidFill>
                <a:latin typeface="Aptos Display" panose="020B0004020202020204" pitchFamily="34" charset="0"/>
              </a:rPr>
              <a:t>Crime incidents vary significantly depending on multiple environmental and operational factors such as crime severity, police response time, officer allocation, weapon involvement, population density, CCTV coverage, and prior crime history. Traditional crime analysis methods depend mainly upon historical reports and descriptive statistics, making it difficult to identify patterns and optimize law enforcement strategies.</a:t>
            </a:r>
          </a:p>
        </p:txBody>
      </p:sp>
      <p:sp>
        <p:nvSpPr>
          <p:cNvPr id="4" name="Shape 2"/>
          <p:cNvSpPr/>
          <p:nvPr/>
        </p:nvSpPr>
        <p:spPr>
          <a:xfrm>
            <a:off x="548640" y="3246120"/>
            <a:ext cx="3566160" cy="2880360"/>
          </a:xfrm>
          <a:prstGeom prst="roundRect">
            <a:avLst>
              <a:gd name="adj" fmla="val 2540"/>
            </a:avLst>
          </a:prstGeom>
          <a:solidFill>
            <a:srgbClr val="10182B"/>
          </a:solidFill>
          <a:ln w="12700">
            <a:solidFill>
              <a:srgbClr val="1E293B"/>
            </a:solidFill>
            <a:prstDash val="solid"/>
          </a:ln>
        </p:spPr>
      </p:sp>
      <p:sp>
        <p:nvSpPr>
          <p:cNvPr id="5" name="Shape 3"/>
          <p:cNvSpPr/>
          <p:nvPr/>
        </p:nvSpPr>
        <p:spPr>
          <a:xfrm>
            <a:off x="868680" y="3566160"/>
            <a:ext cx="658368" cy="658368"/>
          </a:xfrm>
          <a:prstGeom prst="ellipse">
            <a:avLst/>
          </a:prstGeom>
          <a:solidFill>
            <a:srgbClr val="12233F"/>
          </a:solidFill>
          <a:ln/>
        </p:spPr>
      </p:sp>
      <p:pic>
        <p:nvPicPr>
          <p:cNvPr id="6" name="Image 0" descr="/home/claude/ppt_assets/icons/activity.png"/>
          <p:cNvPicPr>
            <a:picLocks noChangeAspect="1"/>
          </p:cNvPicPr>
          <p:nvPr/>
        </p:nvPicPr>
        <p:blipFill>
          <a:blip r:embed="rId3"/>
          <a:stretch>
            <a:fillRect/>
          </a:stretch>
        </p:blipFill>
        <p:spPr>
          <a:xfrm>
            <a:off x="1026688" y="3724168"/>
            <a:ext cx="342351" cy="342351"/>
          </a:xfrm>
          <a:prstGeom prst="rect">
            <a:avLst/>
          </a:prstGeom>
        </p:spPr>
      </p:pic>
      <p:sp>
        <p:nvSpPr>
          <p:cNvPr id="7" name="Text 4"/>
          <p:cNvSpPr/>
          <p:nvPr/>
        </p:nvSpPr>
        <p:spPr>
          <a:xfrm>
            <a:off x="868680" y="4389120"/>
            <a:ext cx="2926080" cy="41148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Rising Caseloads</a:t>
            </a:r>
            <a:endParaRPr lang="en-US" sz="1600" dirty="0"/>
          </a:p>
        </p:txBody>
      </p:sp>
      <p:sp>
        <p:nvSpPr>
          <p:cNvPr id="8" name="Text 5"/>
          <p:cNvSpPr/>
          <p:nvPr/>
        </p:nvSpPr>
        <p:spPr>
          <a:xfrm>
            <a:off x="868680" y="4846320"/>
            <a:ext cx="2926080" cy="1097280"/>
          </a:xfrm>
          <a:prstGeom prst="rect">
            <a:avLst/>
          </a:prstGeom>
          <a:noFill/>
          <a:ln/>
        </p:spPr>
        <p:txBody>
          <a:bodyPr wrap="square" rtlCol="0" anchor="t"/>
          <a:lstStyle/>
          <a:p>
            <a:pPr marL="0" indent="0">
              <a:buNone/>
            </a:pPr>
            <a:r>
              <a:rPr lang="en-US" sz="1250" dirty="0">
                <a:solidFill>
                  <a:srgbClr val="8B93A7"/>
                </a:solidFill>
                <a:latin typeface="Calibri" pitchFamily="34" charset="0"/>
                <a:ea typeface="Calibri" pitchFamily="34" charset="-122"/>
                <a:cs typeface="Calibri" pitchFamily="34" charset="-120"/>
              </a:rPr>
              <a:t>Crime volume keeps growing while investigative teams stay the same size.</a:t>
            </a:r>
            <a:endParaRPr lang="en-US" sz="1250" dirty="0"/>
          </a:p>
        </p:txBody>
      </p:sp>
      <p:sp>
        <p:nvSpPr>
          <p:cNvPr id="9" name="Shape 6"/>
          <p:cNvSpPr/>
          <p:nvPr/>
        </p:nvSpPr>
        <p:spPr>
          <a:xfrm>
            <a:off x="4343400" y="3246120"/>
            <a:ext cx="3566160" cy="2880360"/>
          </a:xfrm>
          <a:prstGeom prst="roundRect">
            <a:avLst>
              <a:gd name="adj" fmla="val 2540"/>
            </a:avLst>
          </a:prstGeom>
          <a:solidFill>
            <a:srgbClr val="10182B"/>
          </a:solidFill>
          <a:ln w="12700">
            <a:solidFill>
              <a:srgbClr val="1E293B"/>
            </a:solidFill>
            <a:prstDash val="solid"/>
          </a:ln>
        </p:spPr>
      </p:sp>
      <p:sp>
        <p:nvSpPr>
          <p:cNvPr id="10" name="Shape 7"/>
          <p:cNvSpPr/>
          <p:nvPr/>
        </p:nvSpPr>
        <p:spPr>
          <a:xfrm>
            <a:off x="4663440" y="3566160"/>
            <a:ext cx="658368" cy="658368"/>
          </a:xfrm>
          <a:prstGeom prst="ellipse">
            <a:avLst/>
          </a:prstGeom>
          <a:solidFill>
            <a:srgbClr val="12233F"/>
          </a:solidFill>
          <a:ln/>
        </p:spPr>
      </p:sp>
      <p:pic>
        <p:nvPicPr>
          <p:cNvPr id="11" name="Image 1" descr="/home/claude/ppt_assets/icons/users.png"/>
          <p:cNvPicPr>
            <a:picLocks noChangeAspect="1"/>
          </p:cNvPicPr>
          <p:nvPr/>
        </p:nvPicPr>
        <p:blipFill>
          <a:blip r:embed="rId4"/>
          <a:stretch>
            <a:fillRect/>
          </a:stretch>
        </p:blipFill>
        <p:spPr>
          <a:xfrm>
            <a:off x="4821448" y="3724168"/>
            <a:ext cx="342351" cy="342351"/>
          </a:xfrm>
          <a:prstGeom prst="rect">
            <a:avLst/>
          </a:prstGeom>
        </p:spPr>
      </p:pic>
      <p:sp>
        <p:nvSpPr>
          <p:cNvPr id="12" name="Text 8"/>
          <p:cNvSpPr/>
          <p:nvPr/>
        </p:nvSpPr>
        <p:spPr>
          <a:xfrm>
            <a:off x="4663440" y="4389120"/>
            <a:ext cx="2926080" cy="41148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Limited Officers</a:t>
            </a:r>
            <a:endParaRPr lang="en-US" sz="1600" dirty="0"/>
          </a:p>
        </p:txBody>
      </p:sp>
      <p:sp>
        <p:nvSpPr>
          <p:cNvPr id="13" name="Text 9"/>
          <p:cNvSpPr/>
          <p:nvPr/>
        </p:nvSpPr>
        <p:spPr>
          <a:xfrm>
            <a:off x="4663440" y="4846320"/>
            <a:ext cx="2926080" cy="1097280"/>
          </a:xfrm>
          <a:prstGeom prst="rect">
            <a:avLst/>
          </a:prstGeom>
          <a:noFill/>
          <a:ln/>
        </p:spPr>
        <p:txBody>
          <a:bodyPr wrap="square" rtlCol="0" anchor="t"/>
          <a:lstStyle/>
          <a:p>
            <a:pPr marL="0" indent="0">
              <a:buNone/>
            </a:pPr>
            <a:r>
              <a:rPr lang="en-US" sz="1250" dirty="0">
                <a:solidFill>
                  <a:srgbClr val="8B93A7"/>
                </a:solidFill>
                <a:latin typeface="Calibri" pitchFamily="34" charset="0"/>
                <a:ea typeface="Calibri" pitchFamily="34" charset="-122"/>
                <a:cs typeface="Calibri" pitchFamily="34" charset="-120"/>
              </a:rPr>
              <a:t>Departments can't put full effort behind every single reported case.</a:t>
            </a:r>
            <a:endParaRPr lang="en-US" sz="1250" dirty="0"/>
          </a:p>
        </p:txBody>
      </p:sp>
      <p:sp>
        <p:nvSpPr>
          <p:cNvPr id="14" name="Shape 10"/>
          <p:cNvSpPr/>
          <p:nvPr/>
        </p:nvSpPr>
        <p:spPr>
          <a:xfrm>
            <a:off x="8138160" y="3246120"/>
            <a:ext cx="3566160" cy="2880360"/>
          </a:xfrm>
          <a:prstGeom prst="roundRect">
            <a:avLst>
              <a:gd name="adj" fmla="val 2540"/>
            </a:avLst>
          </a:prstGeom>
          <a:solidFill>
            <a:srgbClr val="10182B"/>
          </a:solidFill>
          <a:ln w="12700">
            <a:solidFill>
              <a:srgbClr val="1E293B"/>
            </a:solidFill>
            <a:prstDash val="solid"/>
          </a:ln>
        </p:spPr>
      </p:sp>
      <p:sp>
        <p:nvSpPr>
          <p:cNvPr id="15" name="Shape 11"/>
          <p:cNvSpPr/>
          <p:nvPr/>
        </p:nvSpPr>
        <p:spPr>
          <a:xfrm>
            <a:off x="8458200" y="3566160"/>
            <a:ext cx="658368" cy="658368"/>
          </a:xfrm>
          <a:prstGeom prst="ellipse">
            <a:avLst/>
          </a:prstGeom>
          <a:solidFill>
            <a:srgbClr val="12233F"/>
          </a:solidFill>
          <a:ln/>
        </p:spPr>
      </p:sp>
      <p:pic>
        <p:nvPicPr>
          <p:cNvPr id="16" name="Image 2" descr="/home/claude/ppt_assets/icons/target.png"/>
          <p:cNvPicPr>
            <a:picLocks noChangeAspect="1"/>
          </p:cNvPicPr>
          <p:nvPr/>
        </p:nvPicPr>
        <p:blipFill>
          <a:blip r:embed="rId5"/>
          <a:stretch>
            <a:fillRect/>
          </a:stretch>
        </p:blipFill>
        <p:spPr>
          <a:xfrm>
            <a:off x="8616208" y="3724168"/>
            <a:ext cx="342351" cy="342351"/>
          </a:xfrm>
          <a:prstGeom prst="rect">
            <a:avLst/>
          </a:prstGeom>
        </p:spPr>
      </p:pic>
      <p:sp>
        <p:nvSpPr>
          <p:cNvPr id="17" name="Text 12"/>
          <p:cNvSpPr/>
          <p:nvPr/>
        </p:nvSpPr>
        <p:spPr>
          <a:xfrm>
            <a:off x="8458200" y="4389120"/>
            <a:ext cx="2926080" cy="41148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Inconsistent Prioritisation</a:t>
            </a:r>
            <a:endParaRPr lang="en-US" sz="1600" dirty="0"/>
          </a:p>
        </p:txBody>
      </p:sp>
      <p:sp>
        <p:nvSpPr>
          <p:cNvPr id="18" name="Text 13"/>
          <p:cNvSpPr/>
          <p:nvPr/>
        </p:nvSpPr>
        <p:spPr>
          <a:xfrm>
            <a:off x="8458200" y="4846320"/>
            <a:ext cx="2926080" cy="1097280"/>
          </a:xfrm>
          <a:prstGeom prst="rect">
            <a:avLst/>
          </a:prstGeom>
          <a:noFill/>
          <a:ln/>
        </p:spPr>
        <p:txBody>
          <a:bodyPr wrap="square" rtlCol="0" anchor="t"/>
          <a:lstStyle/>
          <a:p>
            <a:pPr marL="0" indent="0">
              <a:buNone/>
            </a:pPr>
            <a:r>
              <a:rPr lang="en-US" sz="1250" dirty="0">
                <a:solidFill>
                  <a:srgbClr val="8B93A7"/>
                </a:solidFill>
                <a:latin typeface="Calibri" pitchFamily="34" charset="0"/>
                <a:ea typeface="Calibri" pitchFamily="34" charset="-122"/>
                <a:cs typeface="Calibri" pitchFamily="34" charset="-120"/>
              </a:rPr>
              <a:t>Without data, urgent, solvable cases can get the same attention as cold ones.</a:t>
            </a:r>
            <a:endParaRPr lang="en-US" sz="1250" dirty="0"/>
          </a:p>
        </p:txBody>
      </p:sp>
      <p:sp>
        <p:nvSpPr>
          <p:cNvPr id="19" name="Text 14"/>
          <p:cNvSpPr/>
          <p:nvPr/>
        </p:nvSpPr>
        <p:spPr>
          <a:xfrm>
            <a:off x="522135" y="2340864"/>
            <a:ext cx="10515600" cy="822960"/>
          </a:xfrm>
          <a:prstGeom prst="rect">
            <a:avLst/>
          </a:prstGeom>
          <a:noFill/>
          <a:ln/>
        </p:spPr>
        <p:txBody>
          <a:bodyPr wrap="square" rtlCol="0" anchor="ctr"/>
          <a:lstStyle/>
          <a:p>
            <a:pPr marL="0" indent="0">
              <a:buNone/>
            </a:pPr>
            <a:r>
              <a:rPr lang="en-US" sz="1500" b="1" i="1" dirty="0">
                <a:solidFill>
                  <a:srgbClr val="E2E8F0"/>
                </a:solidFill>
                <a:latin typeface="Calibri" pitchFamily="34" charset="0"/>
                <a:ea typeface="Calibri" pitchFamily="34" charset="-122"/>
                <a:cs typeface="Calibri" pitchFamily="34" charset="-120"/>
              </a:rPr>
              <a:t>CrimeGuard AI</a:t>
            </a:r>
            <a:r>
              <a:rPr lang="en-US" sz="1500" i="1" dirty="0">
                <a:solidFill>
                  <a:srgbClr val="E2E8F0"/>
                </a:solidFill>
                <a:latin typeface="Calibri" pitchFamily="34" charset="0"/>
                <a:ea typeface="Calibri" pitchFamily="34" charset="-122"/>
                <a:cs typeface="Calibri" pitchFamily="34" charset="-120"/>
              </a:rPr>
              <a:t> turns historical case data into Actions Insights — so investigators can focus effort where it matters most.</a:t>
            </a:r>
            <a:endParaRPr lang="en-US" sz="1500" dirty="0"/>
          </a:p>
        </p:txBody>
      </p:sp>
      <p:sp>
        <p:nvSpPr>
          <p:cNvPr id="20" name="Text 15"/>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21" name="Text 16"/>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242681"/>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OBJECTIVE</a:t>
            </a:r>
            <a:endParaRPr lang="en-US" sz="1200" dirty="0"/>
          </a:p>
        </p:txBody>
      </p:sp>
      <p:sp>
        <p:nvSpPr>
          <p:cNvPr id="3" name="Text 1"/>
          <p:cNvSpPr/>
          <p:nvPr/>
        </p:nvSpPr>
        <p:spPr>
          <a:xfrm>
            <a:off x="548640" y="618475"/>
            <a:ext cx="10789920" cy="82296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 CrimeGuard AI Delivers</a:t>
            </a:r>
          </a:p>
          <a:p>
            <a:pPr marL="0" indent="0">
              <a:buNone/>
            </a:pPr>
            <a:endParaRPr lang="en-US" sz="3200" dirty="0"/>
          </a:p>
        </p:txBody>
      </p:sp>
      <p:sp>
        <p:nvSpPr>
          <p:cNvPr id="4" name="Shape 2"/>
          <p:cNvSpPr/>
          <p:nvPr/>
        </p:nvSpPr>
        <p:spPr>
          <a:xfrm>
            <a:off x="566928" y="2615077"/>
            <a:ext cx="2542032" cy="3383280"/>
          </a:xfrm>
          <a:prstGeom prst="roundRect">
            <a:avLst>
              <a:gd name="adj" fmla="val 2878"/>
            </a:avLst>
          </a:prstGeom>
          <a:solidFill>
            <a:srgbClr val="10182B"/>
          </a:solidFill>
          <a:ln w="12700">
            <a:solidFill>
              <a:srgbClr val="1E293B"/>
            </a:solidFill>
            <a:prstDash val="solid"/>
          </a:ln>
        </p:spPr>
      </p:sp>
      <p:sp>
        <p:nvSpPr>
          <p:cNvPr id="5" name="Shape 3"/>
          <p:cNvSpPr/>
          <p:nvPr/>
        </p:nvSpPr>
        <p:spPr>
          <a:xfrm>
            <a:off x="1411224" y="2880509"/>
            <a:ext cx="731520" cy="731520"/>
          </a:xfrm>
          <a:prstGeom prst="ellipse">
            <a:avLst/>
          </a:prstGeom>
          <a:solidFill>
            <a:srgbClr val="12233F"/>
          </a:solidFill>
          <a:ln/>
        </p:spPr>
      </p:sp>
      <p:pic>
        <p:nvPicPr>
          <p:cNvPr id="6" name="Image 0" descr="/home/claude/ppt_assets/icons/checkcircle.png"/>
          <p:cNvPicPr>
            <a:picLocks noChangeAspect="1"/>
          </p:cNvPicPr>
          <p:nvPr/>
        </p:nvPicPr>
        <p:blipFill>
          <a:blip r:embed="rId3"/>
          <a:stretch>
            <a:fillRect/>
          </a:stretch>
        </p:blipFill>
        <p:spPr>
          <a:xfrm>
            <a:off x="1591007" y="3033065"/>
            <a:ext cx="380390" cy="380390"/>
          </a:xfrm>
          <a:prstGeom prst="rect">
            <a:avLst/>
          </a:prstGeom>
        </p:spPr>
      </p:pic>
      <p:sp>
        <p:nvSpPr>
          <p:cNvPr id="7" name="Text 4"/>
          <p:cNvSpPr/>
          <p:nvPr/>
        </p:nvSpPr>
        <p:spPr>
          <a:xfrm>
            <a:off x="685800" y="3792762"/>
            <a:ext cx="2267712" cy="640080"/>
          </a:xfrm>
          <a:prstGeom prst="rect">
            <a:avLst/>
          </a:prstGeom>
          <a:noFill/>
          <a:ln/>
        </p:spPr>
        <p:txBody>
          <a:bodyPr wrap="square" rtlCol="0" anchor="ctr"/>
          <a:lstStyle/>
          <a:p>
            <a:pPr marL="0" indent="0" algn="ctr">
              <a:buNone/>
            </a:pPr>
            <a:r>
              <a:rPr lang="en-US" sz="1450" b="1" dirty="0">
                <a:solidFill>
                  <a:srgbClr val="FFFFFF"/>
                </a:solidFill>
                <a:latin typeface="Arial" pitchFamily="34" charset="0"/>
                <a:ea typeface="Arial" pitchFamily="34" charset="-122"/>
                <a:cs typeface="Arial" pitchFamily="34" charset="-120"/>
              </a:rPr>
              <a:t>Instant Prediction</a:t>
            </a:r>
            <a:endParaRPr lang="en-US" sz="1450" dirty="0"/>
          </a:p>
        </p:txBody>
      </p:sp>
      <p:sp>
        <p:nvSpPr>
          <p:cNvPr id="8" name="Text 5"/>
          <p:cNvSpPr/>
          <p:nvPr/>
        </p:nvSpPr>
        <p:spPr>
          <a:xfrm>
            <a:off x="731520" y="4303060"/>
            <a:ext cx="2176272" cy="1188720"/>
          </a:xfrm>
          <a:prstGeom prst="rect">
            <a:avLst/>
          </a:prstGeom>
          <a:noFill/>
          <a:ln/>
        </p:spPr>
        <p:txBody>
          <a:bodyPr wrap="square" rtlCol="0" anchor="ctr"/>
          <a:lstStyle/>
          <a:p>
            <a:pPr marL="0" indent="0" algn="ctr">
              <a:buNone/>
            </a:pPr>
            <a:r>
              <a:rPr lang="en-US" sz="1150" dirty="0">
                <a:solidFill>
                  <a:srgbClr val="8B93A7"/>
                </a:solidFill>
                <a:latin typeface="Calibri" pitchFamily="34" charset="0"/>
                <a:ea typeface="Calibri" pitchFamily="34" charset="-122"/>
                <a:cs typeface="Calibri" pitchFamily="34" charset="-120"/>
              </a:rPr>
              <a:t>Resolution likelihood for any case in under a second.</a:t>
            </a:r>
            <a:endParaRPr lang="en-US" sz="1150" dirty="0"/>
          </a:p>
        </p:txBody>
      </p:sp>
      <p:sp>
        <p:nvSpPr>
          <p:cNvPr id="9" name="Shape 6"/>
          <p:cNvSpPr/>
          <p:nvPr/>
        </p:nvSpPr>
        <p:spPr>
          <a:xfrm>
            <a:off x="3300984" y="2578822"/>
            <a:ext cx="2542032" cy="3383280"/>
          </a:xfrm>
          <a:prstGeom prst="roundRect">
            <a:avLst>
              <a:gd name="adj" fmla="val 2878"/>
            </a:avLst>
          </a:prstGeom>
          <a:solidFill>
            <a:srgbClr val="10182B"/>
          </a:solidFill>
          <a:ln w="12700">
            <a:solidFill>
              <a:srgbClr val="1E293B"/>
            </a:solidFill>
            <a:prstDash val="solid"/>
          </a:ln>
        </p:spPr>
      </p:sp>
      <p:sp>
        <p:nvSpPr>
          <p:cNvPr id="10" name="Shape 7"/>
          <p:cNvSpPr/>
          <p:nvPr/>
        </p:nvSpPr>
        <p:spPr>
          <a:xfrm>
            <a:off x="4169664" y="2907578"/>
            <a:ext cx="731520" cy="731520"/>
          </a:xfrm>
          <a:prstGeom prst="ellipse">
            <a:avLst/>
          </a:prstGeom>
          <a:solidFill>
            <a:srgbClr val="12233F"/>
          </a:solidFill>
          <a:ln/>
        </p:spPr>
      </p:sp>
      <p:pic>
        <p:nvPicPr>
          <p:cNvPr id="11" name="Image 1" descr="/home/claude/ppt_assets/icons/alert.png"/>
          <p:cNvPicPr>
            <a:picLocks noChangeAspect="1"/>
          </p:cNvPicPr>
          <p:nvPr/>
        </p:nvPicPr>
        <p:blipFill>
          <a:blip r:embed="rId4"/>
          <a:stretch>
            <a:fillRect/>
          </a:stretch>
        </p:blipFill>
        <p:spPr>
          <a:xfrm>
            <a:off x="4345229" y="3056074"/>
            <a:ext cx="380390" cy="380390"/>
          </a:xfrm>
          <a:prstGeom prst="rect">
            <a:avLst/>
          </a:prstGeom>
        </p:spPr>
      </p:pic>
      <p:sp>
        <p:nvSpPr>
          <p:cNvPr id="12" name="Text 8"/>
          <p:cNvSpPr/>
          <p:nvPr/>
        </p:nvSpPr>
        <p:spPr>
          <a:xfrm>
            <a:off x="3438144" y="3792762"/>
            <a:ext cx="2267712" cy="640080"/>
          </a:xfrm>
          <a:prstGeom prst="rect">
            <a:avLst/>
          </a:prstGeom>
          <a:noFill/>
          <a:ln/>
        </p:spPr>
        <p:txBody>
          <a:bodyPr wrap="square" rtlCol="0" anchor="ctr"/>
          <a:lstStyle/>
          <a:p>
            <a:pPr marL="0" indent="0" algn="ctr">
              <a:buNone/>
            </a:pPr>
            <a:r>
              <a:rPr lang="en-US" sz="1450" b="1" dirty="0">
                <a:solidFill>
                  <a:srgbClr val="FFFFFF"/>
                </a:solidFill>
                <a:latin typeface="Arial" pitchFamily="34" charset="0"/>
                <a:ea typeface="Arial" pitchFamily="34" charset="-122"/>
                <a:cs typeface="Arial" pitchFamily="34" charset="-120"/>
              </a:rPr>
              <a:t>Risk Scoring</a:t>
            </a:r>
            <a:endParaRPr lang="en-US" sz="1450" dirty="0"/>
          </a:p>
        </p:txBody>
      </p:sp>
      <p:sp>
        <p:nvSpPr>
          <p:cNvPr id="13" name="Text 9"/>
          <p:cNvSpPr/>
          <p:nvPr/>
        </p:nvSpPr>
        <p:spPr>
          <a:xfrm>
            <a:off x="3474720" y="4309516"/>
            <a:ext cx="2176272" cy="1188720"/>
          </a:xfrm>
          <a:prstGeom prst="rect">
            <a:avLst/>
          </a:prstGeom>
          <a:noFill/>
          <a:ln/>
        </p:spPr>
        <p:txBody>
          <a:bodyPr wrap="square" rtlCol="0" anchor="ctr"/>
          <a:lstStyle/>
          <a:p>
            <a:pPr marL="0" indent="0" algn="ctr">
              <a:buNone/>
            </a:pPr>
            <a:r>
              <a:rPr lang="en-US" sz="1150" dirty="0">
                <a:solidFill>
                  <a:srgbClr val="8B93A7"/>
                </a:solidFill>
                <a:latin typeface="Calibri" pitchFamily="34" charset="0"/>
                <a:ea typeface="Calibri" pitchFamily="34" charset="-122"/>
                <a:cs typeface="Calibri" pitchFamily="34" charset="-120"/>
              </a:rPr>
              <a:t>Four-tier risk badge — Low to Critical — at a glance.</a:t>
            </a:r>
            <a:endParaRPr lang="en-US" sz="1150" dirty="0"/>
          </a:p>
        </p:txBody>
      </p:sp>
      <p:sp>
        <p:nvSpPr>
          <p:cNvPr id="14" name="Shape 10"/>
          <p:cNvSpPr/>
          <p:nvPr/>
        </p:nvSpPr>
        <p:spPr>
          <a:xfrm>
            <a:off x="6025896" y="2578822"/>
            <a:ext cx="2542032" cy="3383280"/>
          </a:xfrm>
          <a:prstGeom prst="roundRect">
            <a:avLst>
              <a:gd name="adj" fmla="val 2878"/>
            </a:avLst>
          </a:prstGeom>
          <a:solidFill>
            <a:srgbClr val="10182B"/>
          </a:solidFill>
          <a:ln w="12700">
            <a:solidFill>
              <a:srgbClr val="1E293B"/>
            </a:solidFill>
            <a:prstDash val="solid"/>
          </a:ln>
        </p:spPr>
      </p:sp>
      <p:sp>
        <p:nvSpPr>
          <p:cNvPr id="15" name="Shape 11"/>
          <p:cNvSpPr/>
          <p:nvPr/>
        </p:nvSpPr>
        <p:spPr>
          <a:xfrm>
            <a:off x="6947611" y="2869815"/>
            <a:ext cx="731520" cy="731520"/>
          </a:xfrm>
          <a:prstGeom prst="ellipse">
            <a:avLst/>
          </a:prstGeom>
          <a:solidFill>
            <a:srgbClr val="12233F"/>
          </a:solidFill>
          <a:ln/>
        </p:spPr>
      </p:sp>
      <p:pic>
        <p:nvPicPr>
          <p:cNvPr id="16" name="Image 2" descr="/home/claude/ppt_assets/icons/users.png"/>
          <p:cNvPicPr>
            <a:picLocks noChangeAspect="1"/>
          </p:cNvPicPr>
          <p:nvPr/>
        </p:nvPicPr>
        <p:blipFill>
          <a:blip r:embed="rId5"/>
          <a:stretch>
            <a:fillRect/>
          </a:stretch>
        </p:blipFill>
        <p:spPr>
          <a:xfrm>
            <a:off x="7129950" y="3033065"/>
            <a:ext cx="380390" cy="380390"/>
          </a:xfrm>
          <a:prstGeom prst="rect">
            <a:avLst/>
          </a:prstGeom>
        </p:spPr>
      </p:pic>
      <p:sp>
        <p:nvSpPr>
          <p:cNvPr id="17" name="Text 12"/>
          <p:cNvSpPr/>
          <p:nvPr/>
        </p:nvSpPr>
        <p:spPr>
          <a:xfrm>
            <a:off x="6163056" y="3758398"/>
            <a:ext cx="2267712" cy="640080"/>
          </a:xfrm>
          <a:prstGeom prst="rect">
            <a:avLst/>
          </a:prstGeom>
          <a:noFill/>
          <a:ln/>
        </p:spPr>
        <p:txBody>
          <a:bodyPr wrap="square" rtlCol="0" anchor="ctr"/>
          <a:lstStyle/>
          <a:p>
            <a:pPr marL="0" indent="0" algn="ctr">
              <a:buNone/>
            </a:pPr>
            <a:r>
              <a:rPr lang="en-US" sz="1450" b="1" dirty="0">
                <a:solidFill>
                  <a:srgbClr val="FFFFFF"/>
                </a:solidFill>
                <a:latin typeface="Arial" pitchFamily="34" charset="0"/>
                <a:ea typeface="Arial" pitchFamily="34" charset="-122"/>
                <a:cs typeface="Arial" pitchFamily="34" charset="-120"/>
              </a:rPr>
              <a:t>Officer Recommendation</a:t>
            </a:r>
            <a:endParaRPr lang="en-US" sz="1450" dirty="0"/>
          </a:p>
        </p:txBody>
      </p:sp>
      <p:sp>
        <p:nvSpPr>
          <p:cNvPr id="18" name="Text 13"/>
          <p:cNvSpPr/>
          <p:nvPr/>
        </p:nvSpPr>
        <p:spPr>
          <a:xfrm>
            <a:off x="6222921" y="4266805"/>
            <a:ext cx="2176272" cy="1188720"/>
          </a:xfrm>
          <a:prstGeom prst="rect">
            <a:avLst/>
          </a:prstGeom>
          <a:noFill/>
          <a:ln/>
        </p:spPr>
        <p:txBody>
          <a:bodyPr wrap="square" rtlCol="0" anchor="ctr"/>
          <a:lstStyle/>
          <a:p>
            <a:pPr marL="0" indent="0" algn="ctr">
              <a:buNone/>
            </a:pPr>
            <a:r>
              <a:rPr lang="en-US" sz="1150" dirty="0">
                <a:solidFill>
                  <a:srgbClr val="8B93A7"/>
                </a:solidFill>
                <a:latin typeface="Calibri" pitchFamily="34" charset="0"/>
                <a:ea typeface="Calibri" pitchFamily="34" charset="-122"/>
                <a:cs typeface="Calibri" pitchFamily="34" charset="-120"/>
              </a:rPr>
              <a:t>A severity-driven suggested deployment count.</a:t>
            </a:r>
            <a:endParaRPr lang="en-US" sz="1150" dirty="0"/>
          </a:p>
        </p:txBody>
      </p:sp>
      <p:sp>
        <p:nvSpPr>
          <p:cNvPr id="19" name="Shape 14"/>
          <p:cNvSpPr/>
          <p:nvPr/>
        </p:nvSpPr>
        <p:spPr>
          <a:xfrm>
            <a:off x="8796528" y="2560320"/>
            <a:ext cx="2542032" cy="3383280"/>
          </a:xfrm>
          <a:prstGeom prst="roundRect">
            <a:avLst>
              <a:gd name="adj" fmla="val 2878"/>
            </a:avLst>
          </a:prstGeom>
          <a:solidFill>
            <a:srgbClr val="10182B"/>
          </a:solidFill>
          <a:ln w="12700">
            <a:solidFill>
              <a:srgbClr val="1E293B"/>
            </a:solidFill>
            <a:prstDash val="solid"/>
          </a:ln>
        </p:spPr>
      </p:sp>
      <p:sp>
        <p:nvSpPr>
          <p:cNvPr id="20" name="Shape 15"/>
          <p:cNvSpPr/>
          <p:nvPr/>
        </p:nvSpPr>
        <p:spPr>
          <a:xfrm>
            <a:off x="9683496" y="2911640"/>
            <a:ext cx="731520" cy="731520"/>
          </a:xfrm>
          <a:prstGeom prst="ellipse">
            <a:avLst/>
          </a:prstGeom>
          <a:solidFill>
            <a:srgbClr val="12233F"/>
          </a:solidFill>
          <a:ln/>
        </p:spPr>
      </p:sp>
      <p:pic>
        <p:nvPicPr>
          <p:cNvPr id="21" name="Image 3" descr="/home/claude/ppt_assets/icons/filetext.png"/>
          <p:cNvPicPr>
            <a:picLocks noChangeAspect="1"/>
          </p:cNvPicPr>
          <p:nvPr/>
        </p:nvPicPr>
        <p:blipFill>
          <a:blip r:embed="rId6"/>
          <a:stretch>
            <a:fillRect/>
          </a:stretch>
        </p:blipFill>
        <p:spPr>
          <a:xfrm>
            <a:off x="9859061" y="3083143"/>
            <a:ext cx="380390" cy="380390"/>
          </a:xfrm>
          <a:prstGeom prst="rect">
            <a:avLst/>
          </a:prstGeom>
        </p:spPr>
      </p:pic>
      <p:sp>
        <p:nvSpPr>
          <p:cNvPr id="22" name="Text 16"/>
          <p:cNvSpPr/>
          <p:nvPr/>
        </p:nvSpPr>
        <p:spPr>
          <a:xfrm>
            <a:off x="8933688" y="3689963"/>
            <a:ext cx="2267712" cy="640080"/>
          </a:xfrm>
          <a:prstGeom prst="rect">
            <a:avLst/>
          </a:prstGeom>
          <a:noFill/>
          <a:ln/>
        </p:spPr>
        <p:txBody>
          <a:bodyPr wrap="square" rtlCol="0" anchor="ctr"/>
          <a:lstStyle/>
          <a:p>
            <a:pPr marL="0" indent="0" algn="ctr">
              <a:buNone/>
            </a:pPr>
            <a:r>
              <a:rPr lang="en-US" sz="1450" b="1" dirty="0">
                <a:solidFill>
                  <a:srgbClr val="FFFFFF"/>
                </a:solidFill>
                <a:latin typeface="Arial" pitchFamily="34" charset="0"/>
                <a:ea typeface="Arial" pitchFamily="34" charset="-122"/>
                <a:cs typeface="Arial" pitchFamily="34" charset="-120"/>
              </a:rPr>
              <a:t>Action Plan</a:t>
            </a:r>
            <a:endParaRPr lang="en-US" sz="1450" dirty="0"/>
          </a:p>
        </p:txBody>
      </p:sp>
      <p:sp>
        <p:nvSpPr>
          <p:cNvPr id="23" name="Text 17"/>
          <p:cNvSpPr/>
          <p:nvPr/>
        </p:nvSpPr>
        <p:spPr>
          <a:xfrm>
            <a:off x="8961120" y="4266805"/>
            <a:ext cx="2176272" cy="1188720"/>
          </a:xfrm>
          <a:prstGeom prst="rect">
            <a:avLst/>
          </a:prstGeom>
          <a:noFill/>
          <a:ln/>
        </p:spPr>
        <p:txBody>
          <a:bodyPr wrap="square" rtlCol="0" anchor="ctr"/>
          <a:lstStyle/>
          <a:p>
            <a:pPr marL="0" indent="0" algn="ctr">
              <a:buNone/>
            </a:pPr>
            <a:r>
              <a:rPr lang="en-US" sz="1150" dirty="0">
                <a:solidFill>
                  <a:srgbClr val="8B93A7"/>
                </a:solidFill>
                <a:latin typeface="Calibri" pitchFamily="34" charset="0"/>
                <a:ea typeface="Calibri" pitchFamily="34" charset="-122"/>
                <a:cs typeface="Calibri" pitchFamily="34" charset="-120"/>
              </a:rPr>
              <a:t>Prioritised, rule-based next steps for the investigation.</a:t>
            </a:r>
            <a:endParaRPr lang="en-US" sz="1150" dirty="0"/>
          </a:p>
        </p:txBody>
      </p:sp>
      <p:sp>
        <p:nvSpPr>
          <p:cNvPr id="24" name="Text 18"/>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25" name="Text 19"/>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03</a:t>
            </a:r>
            <a:endParaRPr lang="en-US" sz="900" dirty="0"/>
          </a:p>
        </p:txBody>
      </p:sp>
      <p:sp>
        <p:nvSpPr>
          <p:cNvPr id="26" name="TextBox 25">
            <a:extLst>
              <a:ext uri="{FF2B5EF4-FFF2-40B4-BE49-F238E27FC236}">
                <a16:creationId xmlns:a16="http://schemas.microsoft.com/office/drawing/2014/main" id="{7373C80D-CCFD-A734-5D0B-92D25387BFF2}"/>
              </a:ext>
            </a:extLst>
          </p:cNvPr>
          <p:cNvSpPr txBox="1"/>
          <p:nvPr/>
        </p:nvSpPr>
        <p:spPr>
          <a:xfrm>
            <a:off x="548640" y="1165016"/>
            <a:ext cx="10789920" cy="1323439"/>
          </a:xfrm>
          <a:prstGeom prst="rect">
            <a:avLst/>
          </a:prstGeom>
          <a:noFill/>
        </p:spPr>
        <p:txBody>
          <a:bodyPr wrap="square" rtlCol="0">
            <a:spAutoFit/>
          </a:bodyPr>
          <a:lstStyle/>
          <a:p>
            <a:pPr marL="285750" indent="-285750">
              <a:buFont typeface="Arial" panose="020B0604020202020204" pitchFamily="34" charset="0"/>
              <a:buChar char="•"/>
            </a:pPr>
            <a:r>
              <a:rPr lang="en-IN" sz="1600" b="1" i="1" dirty="0" err="1">
                <a:solidFill>
                  <a:schemeClr val="bg2">
                    <a:lumMod val="90000"/>
                  </a:schemeClr>
                </a:solidFill>
                <a:latin typeface="Aptos Narrow" panose="020B0004020202020204" pitchFamily="34" charset="0"/>
              </a:rPr>
              <a:t>CrimeGuardAI</a:t>
            </a:r>
            <a:r>
              <a:rPr lang="en-IN" sz="1600" i="1" dirty="0">
                <a:solidFill>
                  <a:schemeClr val="bg2">
                    <a:lumMod val="90000"/>
                  </a:schemeClr>
                </a:solidFill>
                <a:latin typeface="Aptos Narrow" panose="020B0004020202020204" pitchFamily="34" charset="0"/>
              </a:rPr>
              <a:t> is an advanced, AI-powered web application designed to predict the likelihood of a reported crime being resolved. By </a:t>
            </a:r>
            <a:r>
              <a:rPr lang="en-IN" sz="1600" i="1" dirty="0" err="1">
                <a:solidFill>
                  <a:schemeClr val="bg2">
                    <a:lumMod val="90000"/>
                  </a:schemeClr>
                </a:solidFill>
                <a:latin typeface="Aptos Narrow" panose="020B0004020202020204" pitchFamily="34" charset="0"/>
              </a:rPr>
              <a:t>analyzing</a:t>
            </a:r>
            <a:r>
              <a:rPr lang="en-IN" sz="1600" i="1" dirty="0">
                <a:solidFill>
                  <a:schemeClr val="bg2">
                    <a:lumMod val="90000"/>
                  </a:schemeClr>
                </a:solidFill>
                <a:latin typeface="Aptos Narrow" panose="020B0004020202020204" pitchFamily="34" charset="0"/>
              </a:rPr>
              <a:t> historical crime data and leveraging machine learning, it provides investigators and analysts with a statistical probability of a successful outcome based on case characteristics.</a:t>
            </a:r>
          </a:p>
          <a:p>
            <a:pPr marL="285750" indent="-285750">
              <a:buFont typeface="Arial" panose="020B0604020202020204" pitchFamily="34" charset="0"/>
              <a:buChar char="•"/>
            </a:pPr>
            <a:r>
              <a:rPr lang="en-IN" sz="1600" b="1" i="1" dirty="0" err="1">
                <a:solidFill>
                  <a:schemeClr val="bg2">
                    <a:lumMod val="90000"/>
                  </a:schemeClr>
                </a:solidFill>
                <a:latin typeface="Aptos Narrow" panose="020B0004020202020204" pitchFamily="34" charset="0"/>
              </a:rPr>
              <a:t>CrimeGuard</a:t>
            </a:r>
            <a:r>
              <a:rPr lang="en-IN" sz="1600" b="1" i="1" dirty="0">
                <a:solidFill>
                  <a:schemeClr val="bg2">
                    <a:lumMod val="90000"/>
                  </a:schemeClr>
                </a:solidFill>
                <a:latin typeface="Aptos Narrow" panose="020B0004020202020204" pitchFamily="34" charset="0"/>
              </a:rPr>
              <a:t> AI</a:t>
            </a:r>
            <a:r>
              <a:rPr lang="en-IN" sz="1600" i="1" dirty="0">
                <a:solidFill>
                  <a:schemeClr val="bg2">
                    <a:lumMod val="90000"/>
                  </a:schemeClr>
                </a:solidFill>
                <a:latin typeface="Aptos Narrow" panose="020B0004020202020204" pitchFamily="34" charset="0"/>
              </a:rPr>
              <a:t> is designed for police departments, law enforcement agencies, crime analysts, and government organizations to help predict crime resolution probability and support faster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DATA FOUNDATION</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Dataset Behind the Model</a:t>
            </a:r>
            <a:endParaRPr lang="en-US" sz="3200" dirty="0"/>
          </a:p>
        </p:txBody>
      </p:sp>
      <p:sp>
        <p:nvSpPr>
          <p:cNvPr id="4" name="Shape 2"/>
          <p:cNvSpPr/>
          <p:nvPr/>
        </p:nvSpPr>
        <p:spPr>
          <a:xfrm>
            <a:off x="548640" y="2148840"/>
            <a:ext cx="3429000" cy="1371600"/>
          </a:xfrm>
          <a:prstGeom prst="roundRect">
            <a:avLst>
              <a:gd name="adj" fmla="val 5333"/>
            </a:avLst>
          </a:prstGeom>
          <a:solidFill>
            <a:srgbClr val="10182B"/>
          </a:solidFill>
          <a:ln w="12700">
            <a:solidFill>
              <a:srgbClr val="1E293B"/>
            </a:solidFill>
            <a:prstDash val="solid"/>
          </a:ln>
        </p:spPr>
      </p:sp>
      <p:sp>
        <p:nvSpPr>
          <p:cNvPr id="5" name="Text 3"/>
          <p:cNvSpPr/>
          <p:nvPr/>
        </p:nvSpPr>
        <p:spPr>
          <a:xfrm>
            <a:off x="777240" y="2313432"/>
            <a:ext cx="2971800" cy="685800"/>
          </a:xfrm>
          <a:prstGeom prst="rect">
            <a:avLst/>
          </a:prstGeom>
          <a:noFill/>
          <a:ln/>
        </p:spPr>
        <p:txBody>
          <a:bodyPr wrap="square" rtlCol="0" anchor="ctr"/>
          <a:lstStyle/>
          <a:p>
            <a:r>
              <a:rPr lang="en-US" sz="3000" b="1" dirty="0">
                <a:solidFill>
                  <a:srgbClr val="3B82F6"/>
                </a:solidFill>
                <a:latin typeface="Courier New" pitchFamily="34" charset="0"/>
                <a:ea typeface="Courier New" pitchFamily="34" charset="-122"/>
                <a:cs typeface="Courier New" pitchFamily="34" charset="-120"/>
              </a:rPr>
              <a:t>7,799+</a:t>
            </a:r>
            <a:endParaRPr lang="en-US" sz="3000" dirty="0"/>
          </a:p>
        </p:txBody>
      </p:sp>
      <p:sp>
        <p:nvSpPr>
          <p:cNvPr id="6" name="Text 4"/>
          <p:cNvSpPr/>
          <p:nvPr/>
        </p:nvSpPr>
        <p:spPr>
          <a:xfrm>
            <a:off x="777240" y="3017520"/>
            <a:ext cx="2971800" cy="365760"/>
          </a:xfrm>
          <a:prstGeom prst="rect">
            <a:avLst/>
          </a:prstGeom>
          <a:noFill/>
          <a:ln/>
        </p:spPr>
        <p:txBody>
          <a:bodyPr wrap="square" rtlCol="0" anchor="ctr"/>
          <a:lstStyle/>
          <a:p>
            <a:pPr marL="0" indent="0">
              <a:buNone/>
            </a:pPr>
            <a:r>
              <a:rPr lang="en-US" sz="1000" kern="0" spc="100" dirty="0">
                <a:solidFill>
                  <a:srgbClr val="8B93A7"/>
                </a:solidFill>
                <a:latin typeface="Courier New" pitchFamily="34" charset="0"/>
                <a:ea typeface="Courier New" pitchFamily="34" charset="-122"/>
                <a:cs typeface="Courier New" pitchFamily="34" charset="-120"/>
              </a:rPr>
              <a:t>CASE RECORDS</a:t>
            </a:r>
            <a:endParaRPr lang="en-US" sz="1000" dirty="0"/>
          </a:p>
        </p:txBody>
      </p:sp>
      <p:sp>
        <p:nvSpPr>
          <p:cNvPr id="7" name="Shape 5"/>
          <p:cNvSpPr/>
          <p:nvPr/>
        </p:nvSpPr>
        <p:spPr>
          <a:xfrm>
            <a:off x="4160520" y="2148840"/>
            <a:ext cx="3429000" cy="1371600"/>
          </a:xfrm>
          <a:prstGeom prst="roundRect">
            <a:avLst>
              <a:gd name="adj" fmla="val 5333"/>
            </a:avLst>
          </a:prstGeom>
          <a:solidFill>
            <a:srgbClr val="10182B"/>
          </a:solidFill>
          <a:ln w="12700">
            <a:solidFill>
              <a:srgbClr val="1E293B"/>
            </a:solidFill>
            <a:prstDash val="solid"/>
          </a:ln>
        </p:spPr>
      </p:sp>
      <p:sp>
        <p:nvSpPr>
          <p:cNvPr id="8" name="Text 6"/>
          <p:cNvSpPr/>
          <p:nvPr/>
        </p:nvSpPr>
        <p:spPr>
          <a:xfrm>
            <a:off x="4389120" y="2263140"/>
            <a:ext cx="2971800" cy="685800"/>
          </a:xfrm>
          <a:prstGeom prst="rect">
            <a:avLst/>
          </a:prstGeom>
          <a:noFill/>
          <a:ln/>
        </p:spPr>
        <p:txBody>
          <a:bodyPr wrap="square" rtlCol="0" anchor="ctr"/>
          <a:lstStyle/>
          <a:p>
            <a:r>
              <a:rPr lang="en-US" sz="3000" b="1" dirty="0">
                <a:solidFill>
                  <a:srgbClr val="3B82F6"/>
                </a:solidFill>
                <a:latin typeface="Courier New" pitchFamily="34" charset="0"/>
                <a:ea typeface="Courier New" pitchFamily="34" charset="-122"/>
                <a:cs typeface="Courier New" pitchFamily="34" charset="-120"/>
              </a:rPr>
              <a:t>9</a:t>
            </a:r>
            <a:endParaRPr lang="en-US" sz="3000" dirty="0"/>
          </a:p>
        </p:txBody>
      </p:sp>
      <p:sp>
        <p:nvSpPr>
          <p:cNvPr id="9" name="Text 7"/>
          <p:cNvSpPr/>
          <p:nvPr/>
        </p:nvSpPr>
        <p:spPr>
          <a:xfrm>
            <a:off x="4389120" y="2948940"/>
            <a:ext cx="2971800" cy="365760"/>
          </a:xfrm>
          <a:prstGeom prst="rect">
            <a:avLst/>
          </a:prstGeom>
          <a:noFill/>
          <a:ln/>
        </p:spPr>
        <p:txBody>
          <a:bodyPr wrap="square" rtlCol="0" anchor="ctr"/>
          <a:lstStyle/>
          <a:p>
            <a:r>
              <a:rPr lang="en-US" sz="1000" kern="0" spc="100" dirty="0">
                <a:solidFill>
                  <a:srgbClr val="8B93A7"/>
                </a:solidFill>
                <a:latin typeface="Courier New" panose="02070309020205020404" pitchFamily="49" charset="0"/>
                <a:ea typeface="Courier New" pitchFamily="34" charset="-122"/>
                <a:cs typeface="Courier New" panose="02070309020205020404" pitchFamily="49" charset="0"/>
              </a:rPr>
              <a:t>MODEL INPUT FEATURES :</a:t>
            </a:r>
          </a:p>
          <a:p>
            <a:r>
              <a:rPr lang="en-IN" sz="800" dirty="0">
                <a:solidFill>
                  <a:schemeClr val="bg2">
                    <a:lumMod val="75000"/>
                  </a:schemeClr>
                </a:solidFill>
                <a:latin typeface="Courier New" panose="02070309020205020404" pitchFamily="49" charset="0"/>
                <a:cs typeface="Courier New" panose="02070309020205020404" pitchFamily="49" charset="0"/>
              </a:rPr>
              <a:t>( Country • Area Type • Crime Type • Crime Severity • Weapon Used • CCTV Coverage • Gang Related • Suspect Status • Lighting Condition)</a:t>
            </a:r>
            <a:endParaRPr lang="en-US" sz="800" dirty="0">
              <a:solidFill>
                <a:schemeClr val="bg2">
                  <a:lumMod val="75000"/>
                </a:schemeClr>
              </a:solidFill>
              <a:latin typeface="Courier New" panose="02070309020205020404" pitchFamily="49" charset="0"/>
              <a:cs typeface="Courier New" panose="02070309020205020404" pitchFamily="49" charset="0"/>
            </a:endParaRPr>
          </a:p>
        </p:txBody>
      </p:sp>
      <p:sp>
        <p:nvSpPr>
          <p:cNvPr id="10" name="Shape 8"/>
          <p:cNvSpPr/>
          <p:nvPr/>
        </p:nvSpPr>
        <p:spPr>
          <a:xfrm>
            <a:off x="7772400" y="2148840"/>
            <a:ext cx="3429000" cy="1371600"/>
          </a:xfrm>
          <a:prstGeom prst="roundRect">
            <a:avLst>
              <a:gd name="adj" fmla="val 5333"/>
            </a:avLst>
          </a:prstGeom>
          <a:solidFill>
            <a:srgbClr val="10182B"/>
          </a:solidFill>
          <a:ln w="12700">
            <a:solidFill>
              <a:srgbClr val="1E293B"/>
            </a:solidFill>
            <a:prstDash val="solid"/>
          </a:ln>
        </p:spPr>
      </p:sp>
      <p:sp>
        <p:nvSpPr>
          <p:cNvPr id="11" name="Text 9"/>
          <p:cNvSpPr/>
          <p:nvPr/>
        </p:nvSpPr>
        <p:spPr>
          <a:xfrm>
            <a:off x="8001000" y="2313432"/>
            <a:ext cx="2971800" cy="685800"/>
          </a:xfrm>
          <a:prstGeom prst="rect">
            <a:avLst/>
          </a:prstGeom>
          <a:noFill/>
          <a:ln/>
        </p:spPr>
        <p:txBody>
          <a:bodyPr wrap="square" rtlCol="0" anchor="ctr"/>
          <a:lstStyle/>
          <a:p>
            <a:pPr marL="0" indent="0">
              <a:buNone/>
            </a:pPr>
            <a:r>
              <a:rPr lang="en-US" sz="3000" b="1" dirty="0">
                <a:solidFill>
                  <a:srgbClr val="3B82F6"/>
                </a:solidFill>
                <a:latin typeface="Courier New" pitchFamily="34" charset="0"/>
                <a:ea typeface="Courier New" pitchFamily="34" charset="-122"/>
                <a:cs typeface="Courier New" pitchFamily="34" charset="-120"/>
              </a:rPr>
              <a:t>15</a:t>
            </a:r>
            <a:endParaRPr lang="en-US" sz="3000" dirty="0"/>
          </a:p>
        </p:txBody>
      </p:sp>
      <p:sp>
        <p:nvSpPr>
          <p:cNvPr id="12" name="Text 10"/>
          <p:cNvSpPr/>
          <p:nvPr/>
        </p:nvSpPr>
        <p:spPr>
          <a:xfrm>
            <a:off x="8001000" y="3017520"/>
            <a:ext cx="2971800" cy="365760"/>
          </a:xfrm>
          <a:prstGeom prst="rect">
            <a:avLst/>
          </a:prstGeom>
          <a:noFill/>
          <a:ln/>
        </p:spPr>
        <p:txBody>
          <a:bodyPr wrap="square" rtlCol="0" anchor="ctr"/>
          <a:lstStyle/>
          <a:p>
            <a:pPr marL="0" indent="0">
              <a:buNone/>
            </a:pPr>
            <a:r>
              <a:rPr lang="en-US" sz="1000" kern="0" spc="100" dirty="0">
                <a:solidFill>
                  <a:srgbClr val="8B93A7"/>
                </a:solidFill>
                <a:latin typeface="Courier New" pitchFamily="34" charset="0"/>
                <a:ea typeface="Courier New" pitchFamily="34" charset="-122"/>
                <a:cs typeface="Courier New" pitchFamily="34" charset="-120"/>
              </a:rPr>
              <a:t>COUNTRIES COVERED</a:t>
            </a:r>
            <a:endParaRPr lang="en-US" sz="1000" dirty="0"/>
          </a:p>
        </p:txBody>
      </p:sp>
      <p:sp>
        <p:nvSpPr>
          <p:cNvPr id="13" name="Shape 11"/>
          <p:cNvSpPr/>
          <p:nvPr/>
        </p:nvSpPr>
        <p:spPr>
          <a:xfrm>
            <a:off x="548640" y="3749040"/>
            <a:ext cx="3429000" cy="1371600"/>
          </a:xfrm>
          <a:prstGeom prst="roundRect">
            <a:avLst>
              <a:gd name="adj" fmla="val 5333"/>
            </a:avLst>
          </a:prstGeom>
          <a:solidFill>
            <a:srgbClr val="10182B"/>
          </a:solidFill>
          <a:ln w="12700">
            <a:solidFill>
              <a:srgbClr val="1E293B"/>
            </a:solidFill>
            <a:prstDash val="solid"/>
          </a:ln>
        </p:spPr>
      </p:sp>
      <p:sp>
        <p:nvSpPr>
          <p:cNvPr id="14" name="Text 12"/>
          <p:cNvSpPr/>
          <p:nvPr/>
        </p:nvSpPr>
        <p:spPr>
          <a:xfrm>
            <a:off x="777240" y="3913632"/>
            <a:ext cx="2971800" cy="685800"/>
          </a:xfrm>
          <a:prstGeom prst="rect">
            <a:avLst/>
          </a:prstGeom>
          <a:noFill/>
          <a:ln/>
        </p:spPr>
        <p:txBody>
          <a:bodyPr wrap="square" rtlCol="0" anchor="ctr"/>
          <a:lstStyle/>
          <a:p>
            <a:pPr marL="0" indent="0">
              <a:buNone/>
            </a:pPr>
            <a:r>
              <a:rPr lang="en-US" sz="3000" b="1" dirty="0">
                <a:solidFill>
                  <a:srgbClr val="3B82F6"/>
                </a:solidFill>
                <a:latin typeface="Courier New" pitchFamily="34" charset="0"/>
                <a:cs typeface="Courier New" pitchFamily="34" charset="-120"/>
              </a:rPr>
              <a:t>6</a:t>
            </a:r>
            <a:endParaRPr lang="en-US" sz="3000" dirty="0"/>
          </a:p>
        </p:txBody>
      </p:sp>
      <p:sp>
        <p:nvSpPr>
          <p:cNvPr id="15" name="Text 13"/>
          <p:cNvSpPr/>
          <p:nvPr/>
        </p:nvSpPr>
        <p:spPr>
          <a:xfrm>
            <a:off x="777240" y="4561736"/>
            <a:ext cx="2971800" cy="365760"/>
          </a:xfrm>
          <a:prstGeom prst="rect">
            <a:avLst/>
          </a:prstGeom>
          <a:noFill/>
          <a:ln/>
        </p:spPr>
        <p:txBody>
          <a:bodyPr wrap="square" rtlCol="0" anchor="ctr"/>
          <a:lstStyle/>
          <a:p>
            <a:r>
              <a:rPr lang="en-US" sz="1000" kern="0" spc="100" dirty="0">
                <a:solidFill>
                  <a:srgbClr val="8B93A7"/>
                </a:solidFill>
                <a:latin typeface="Courier New" pitchFamily="34" charset="0"/>
                <a:cs typeface="Courier New" pitchFamily="34" charset="-120"/>
              </a:rPr>
              <a:t>SUSPECT STATUS:</a:t>
            </a:r>
          </a:p>
          <a:p>
            <a:r>
              <a:rPr lang="en-IN" sz="900" dirty="0">
                <a:solidFill>
                  <a:schemeClr val="bg2">
                    <a:lumMod val="75000"/>
                  </a:schemeClr>
                </a:solidFill>
                <a:latin typeface="Courier New" panose="02070309020205020404" pitchFamily="49" charset="0"/>
                <a:cs typeface="Courier New" panose="02070309020205020404" pitchFamily="49" charset="0"/>
              </a:rPr>
              <a:t>( Arrested • At Large • Under Investigation • Unknown • Convicted </a:t>
            </a:r>
          </a:p>
          <a:p>
            <a:r>
              <a:rPr lang="en-IN" sz="900" dirty="0">
                <a:solidFill>
                  <a:schemeClr val="bg2">
                    <a:lumMod val="75000"/>
                  </a:schemeClr>
                </a:solidFill>
                <a:latin typeface="Courier New" panose="02070309020205020404" pitchFamily="49" charset="0"/>
                <a:cs typeface="Courier New" panose="02070309020205020404" pitchFamily="49" charset="0"/>
              </a:rPr>
              <a:t>• Acquitted )</a:t>
            </a:r>
            <a:endParaRPr lang="en-US" sz="900" dirty="0">
              <a:solidFill>
                <a:schemeClr val="bg2">
                  <a:lumMod val="75000"/>
                </a:schemeClr>
              </a:solidFill>
              <a:latin typeface="Courier New" panose="02070309020205020404" pitchFamily="49" charset="0"/>
              <a:cs typeface="Courier New" panose="02070309020205020404" pitchFamily="49" charset="0"/>
            </a:endParaRPr>
          </a:p>
        </p:txBody>
      </p:sp>
      <p:sp>
        <p:nvSpPr>
          <p:cNvPr id="16" name="Shape 14"/>
          <p:cNvSpPr/>
          <p:nvPr/>
        </p:nvSpPr>
        <p:spPr>
          <a:xfrm>
            <a:off x="4160520" y="3749040"/>
            <a:ext cx="3429000" cy="1371600"/>
          </a:xfrm>
          <a:prstGeom prst="roundRect">
            <a:avLst>
              <a:gd name="adj" fmla="val 5333"/>
            </a:avLst>
          </a:prstGeom>
          <a:solidFill>
            <a:srgbClr val="10182B"/>
          </a:solidFill>
          <a:ln w="12700">
            <a:solidFill>
              <a:srgbClr val="1E293B"/>
            </a:solidFill>
            <a:prstDash val="solid"/>
          </a:ln>
        </p:spPr>
        <p:txBody>
          <a:bodyPr/>
          <a:lstStyle/>
          <a:p>
            <a:endParaRPr lang="en-IN"/>
          </a:p>
        </p:txBody>
      </p:sp>
      <p:sp>
        <p:nvSpPr>
          <p:cNvPr id="17" name="Text 15"/>
          <p:cNvSpPr/>
          <p:nvPr/>
        </p:nvSpPr>
        <p:spPr>
          <a:xfrm>
            <a:off x="4389120" y="3913632"/>
            <a:ext cx="2971800" cy="685800"/>
          </a:xfrm>
          <a:prstGeom prst="rect">
            <a:avLst/>
          </a:prstGeom>
          <a:noFill/>
          <a:ln/>
        </p:spPr>
        <p:txBody>
          <a:bodyPr wrap="square" rtlCol="0" anchor="ctr"/>
          <a:lstStyle/>
          <a:p>
            <a:r>
              <a:rPr lang="en-US" sz="3000" b="1" dirty="0">
                <a:solidFill>
                  <a:srgbClr val="3B82F6"/>
                </a:solidFill>
                <a:latin typeface="Courier New" pitchFamily="34" charset="0"/>
                <a:ea typeface="Courier New" pitchFamily="34" charset="-122"/>
                <a:cs typeface="Courier New" pitchFamily="34" charset="-120"/>
              </a:rPr>
              <a:t>15</a:t>
            </a:r>
            <a:endParaRPr lang="en-US" sz="3000" dirty="0"/>
          </a:p>
        </p:txBody>
      </p:sp>
      <p:sp>
        <p:nvSpPr>
          <p:cNvPr id="18" name="Text 16"/>
          <p:cNvSpPr/>
          <p:nvPr/>
        </p:nvSpPr>
        <p:spPr>
          <a:xfrm>
            <a:off x="4389120" y="4617720"/>
            <a:ext cx="2971800" cy="365760"/>
          </a:xfrm>
          <a:prstGeom prst="rect">
            <a:avLst/>
          </a:prstGeom>
          <a:noFill/>
          <a:ln/>
        </p:spPr>
        <p:txBody>
          <a:bodyPr wrap="square" rtlCol="0" anchor="ctr"/>
          <a:lstStyle/>
          <a:p>
            <a:r>
              <a:rPr lang="en-US" sz="1000" kern="0" spc="100" dirty="0">
                <a:solidFill>
                  <a:srgbClr val="8B93A7"/>
                </a:solidFill>
                <a:latin typeface="Courier New" pitchFamily="34" charset="0"/>
                <a:ea typeface="Courier New" pitchFamily="34" charset="-122"/>
                <a:cs typeface="Courier New" pitchFamily="34" charset="-120"/>
              </a:rPr>
              <a:t>CRIME TYPES</a:t>
            </a:r>
            <a:endParaRPr lang="en-US" sz="1000" dirty="0"/>
          </a:p>
        </p:txBody>
      </p:sp>
      <p:sp>
        <p:nvSpPr>
          <p:cNvPr id="19" name="Shape 17"/>
          <p:cNvSpPr/>
          <p:nvPr/>
        </p:nvSpPr>
        <p:spPr>
          <a:xfrm>
            <a:off x="7772400" y="3749040"/>
            <a:ext cx="3429000" cy="1371600"/>
          </a:xfrm>
          <a:prstGeom prst="roundRect">
            <a:avLst>
              <a:gd name="adj" fmla="val 5333"/>
            </a:avLst>
          </a:prstGeom>
          <a:solidFill>
            <a:srgbClr val="10182B"/>
          </a:solidFill>
          <a:ln w="12700">
            <a:solidFill>
              <a:srgbClr val="1E293B"/>
            </a:solidFill>
            <a:prstDash val="solid"/>
          </a:ln>
        </p:spPr>
      </p:sp>
      <p:sp>
        <p:nvSpPr>
          <p:cNvPr id="20" name="Text 18"/>
          <p:cNvSpPr/>
          <p:nvPr/>
        </p:nvSpPr>
        <p:spPr>
          <a:xfrm>
            <a:off x="8001000" y="3913632"/>
            <a:ext cx="2971800" cy="685800"/>
          </a:xfrm>
          <a:prstGeom prst="rect">
            <a:avLst/>
          </a:prstGeom>
          <a:noFill/>
          <a:ln/>
        </p:spPr>
        <p:txBody>
          <a:bodyPr wrap="square" rtlCol="0" anchor="ctr"/>
          <a:lstStyle/>
          <a:p>
            <a:pPr marL="0" indent="0">
              <a:buNone/>
            </a:pPr>
            <a:r>
              <a:rPr lang="en-US" sz="3000" b="1" dirty="0">
                <a:solidFill>
                  <a:srgbClr val="3B82F6"/>
                </a:solidFill>
                <a:latin typeface="Courier New" pitchFamily="34" charset="0"/>
                <a:ea typeface="Courier New" pitchFamily="34" charset="-122"/>
                <a:cs typeface="Courier New" pitchFamily="34" charset="-120"/>
              </a:rPr>
              <a:t>2021–25</a:t>
            </a:r>
            <a:endParaRPr lang="en-US" sz="3000" dirty="0"/>
          </a:p>
        </p:txBody>
      </p:sp>
      <p:sp>
        <p:nvSpPr>
          <p:cNvPr id="21" name="Text 19"/>
          <p:cNvSpPr/>
          <p:nvPr/>
        </p:nvSpPr>
        <p:spPr>
          <a:xfrm>
            <a:off x="8001000" y="4617720"/>
            <a:ext cx="2971800" cy="365760"/>
          </a:xfrm>
          <a:prstGeom prst="rect">
            <a:avLst/>
          </a:prstGeom>
          <a:noFill/>
          <a:ln/>
        </p:spPr>
        <p:txBody>
          <a:bodyPr wrap="square" rtlCol="0" anchor="ctr"/>
          <a:lstStyle/>
          <a:p>
            <a:pPr marL="0" indent="0">
              <a:buNone/>
            </a:pPr>
            <a:r>
              <a:rPr lang="en-US" sz="1000" kern="0" spc="100" dirty="0">
                <a:solidFill>
                  <a:srgbClr val="8B93A7"/>
                </a:solidFill>
                <a:latin typeface="Courier New" pitchFamily="34" charset="0"/>
                <a:ea typeface="Courier New" pitchFamily="34" charset="-122"/>
                <a:cs typeface="Courier New" pitchFamily="34" charset="-120"/>
              </a:rPr>
              <a:t>YEARS OF DATA</a:t>
            </a:r>
            <a:endParaRPr lang="en-US" sz="1000" dirty="0"/>
          </a:p>
        </p:txBody>
      </p:sp>
      <p:sp>
        <p:nvSpPr>
          <p:cNvPr id="22" name="Text 20"/>
          <p:cNvSpPr/>
          <p:nvPr/>
        </p:nvSpPr>
        <p:spPr>
          <a:xfrm>
            <a:off x="548640" y="6172200"/>
            <a:ext cx="10789920" cy="320040"/>
          </a:xfrm>
          <a:prstGeom prst="rect">
            <a:avLst/>
          </a:prstGeom>
          <a:noFill/>
          <a:ln/>
        </p:spPr>
        <p:txBody>
          <a:bodyPr wrap="square" rtlCol="0" anchor="ctr"/>
          <a:lstStyle/>
          <a:p>
            <a:pPr marL="0" indent="0">
              <a:buNone/>
            </a:pPr>
            <a:endParaRPr lang="en-US" sz="1100" dirty="0"/>
          </a:p>
        </p:txBody>
      </p:sp>
      <p:sp>
        <p:nvSpPr>
          <p:cNvPr id="23" name="Text 21"/>
          <p:cNvSpPr/>
          <p:nvPr/>
        </p:nvSpPr>
        <p:spPr>
          <a:xfrm>
            <a:off x="457200" y="646182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24" name="Text 22"/>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MACHINE LEARNING</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Model Comparison &amp; Selection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6492240" cy="1920240"/>
        </p:xfrm>
        <a:graphic>
          <a:graphicData uri="http://schemas.openxmlformats.org/drawingml/2006/table">
            <a:tbl>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80060">
                <a:tc>
                  <a:txBody>
                    <a:bodyPr/>
                    <a:lstStyle/>
                    <a:p>
                      <a:pPr marL="0" indent="0">
                        <a:buNone/>
                      </a:pPr>
                      <a:r>
                        <a:rPr lang="en-US" sz="1100" b="1" dirty="0">
                          <a:solidFill>
                            <a:srgbClr val="8B93A7"/>
                          </a:solidFill>
                          <a:latin typeface="Courier New" pitchFamily="34" charset="0"/>
                          <a:ea typeface="Courier New" pitchFamily="34" charset="-122"/>
                          <a:cs typeface="Courier New" pitchFamily="34" charset="-120"/>
                        </a:rPr>
                        <a:t>Model</a:t>
                      </a:r>
                      <a:endParaRPr lang="en-US" sz="110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100" b="1" dirty="0">
                          <a:solidFill>
                            <a:srgbClr val="8B93A7"/>
                          </a:solidFill>
                          <a:latin typeface="Courier New" pitchFamily="34" charset="0"/>
                          <a:ea typeface="Courier New" pitchFamily="34" charset="-122"/>
                          <a:cs typeface="Courier New" pitchFamily="34" charset="-120"/>
                        </a:rPr>
                        <a:t>Accuracy</a:t>
                      </a:r>
                      <a:endParaRPr lang="en-US" sz="110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100" b="1" dirty="0">
                          <a:solidFill>
                            <a:srgbClr val="8B93A7"/>
                          </a:solidFill>
                          <a:latin typeface="Courier New" pitchFamily="34" charset="0"/>
                          <a:ea typeface="Courier New" pitchFamily="34" charset="-122"/>
                          <a:cs typeface="Courier New" pitchFamily="34" charset="-120"/>
                        </a:rPr>
                        <a:t>F1 Score</a:t>
                      </a:r>
                      <a:endParaRPr lang="en-US" sz="110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100" b="1" dirty="0">
                          <a:solidFill>
                            <a:srgbClr val="8B93A7"/>
                          </a:solidFill>
                          <a:latin typeface="Courier New" pitchFamily="34" charset="0"/>
                          <a:ea typeface="Courier New" pitchFamily="34" charset="-122"/>
                          <a:cs typeface="Courier New" pitchFamily="34" charset="-120"/>
                        </a:rPr>
                        <a:t>ROC-AUC</a:t>
                      </a:r>
                      <a:endParaRPr lang="en-US" sz="110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extLst>
                  <a:ext uri="{0D108BD9-81ED-4DB2-BD59-A6C34878D82A}">
                    <a16:rowId xmlns:a16="http://schemas.microsoft.com/office/drawing/2014/main" val="10000"/>
                  </a:ext>
                </a:extLst>
              </a:tr>
              <a:tr h="4800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Logistic Regression  ★</a:t>
                      </a:r>
                      <a:endParaRPr lang="en-US" sz="1250" dirty="0">
                        <a:latin typeface="Calibri" charset="0"/>
                        <a:ea typeface="Calibri" charset="0"/>
                        <a:cs typeface="Calibri"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E2E8F0"/>
                          </a:solidFill>
                          <a:latin typeface="Courier New" pitchFamily="34" charset="0"/>
                          <a:ea typeface="Courier New" pitchFamily="34" charset="-122"/>
                          <a:cs typeface="Courier New" pitchFamily="34" charset="-120"/>
                        </a:rPr>
                        <a:t>0.7614</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b="1" dirty="0">
                          <a:solidFill>
                            <a:srgbClr val="3B82F6"/>
                          </a:solidFill>
                          <a:latin typeface="Courier New" pitchFamily="34" charset="0"/>
                          <a:ea typeface="Courier New" pitchFamily="34" charset="-122"/>
                          <a:cs typeface="Courier New" pitchFamily="34" charset="-120"/>
                        </a:rPr>
                        <a:t>0.7493</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b="1" dirty="0">
                          <a:solidFill>
                            <a:srgbClr val="3B82F6"/>
                          </a:solidFill>
                          <a:latin typeface="Courier New" pitchFamily="34" charset="0"/>
                          <a:ea typeface="Courier New" pitchFamily="34" charset="-122"/>
                          <a:cs typeface="Courier New" pitchFamily="34" charset="-120"/>
                        </a:rPr>
                        <a:t>0.8010</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extLst>
                  <a:ext uri="{0D108BD9-81ED-4DB2-BD59-A6C34878D82A}">
                    <a16:rowId xmlns:a16="http://schemas.microsoft.com/office/drawing/2014/main" val="10001"/>
                  </a:ext>
                </a:extLst>
              </a:tr>
              <a:tr h="480060">
                <a:tc>
                  <a:txBody>
                    <a:bodyPr/>
                    <a:lstStyle/>
                    <a:p>
                      <a:pPr marL="0" indent="0">
                        <a:buNone/>
                      </a:pPr>
                      <a:r>
                        <a:rPr lang="en-US" sz="1250" dirty="0">
                          <a:solidFill>
                            <a:srgbClr val="E2E8F0"/>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E2E8F0"/>
                          </a:solidFill>
                          <a:latin typeface="Courier New" pitchFamily="34" charset="0"/>
                          <a:ea typeface="Courier New" pitchFamily="34" charset="-122"/>
                          <a:cs typeface="Courier New" pitchFamily="34" charset="-120"/>
                        </a:rPr>
                        <a:t>0.7620</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8B93A7"/>
                          </a:solidFill>
                          <a:latin typeface="Courier New" pitchFamily="34" charset="0"/>
                          <a:ea typeface="Courier New" pitchFamily="34" charset="-122"/>
                          <a:cs typeface="Courier New" pitchFamily="34" charset="-120"/>
                        </a:rPr>
                        <a:t>0.7365</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8B93A7"/>
                          </a:solidFill>
                          <a:latin typeface="Courier New" pitchFamily="34" charset="0"/>
                          <a:ea typeface="Courier New" pitchFamily="34" charset="-122"/>
                          <a:cs typeface="Courier New" pitchFamily="34" charset="-120"/>
                        </a:rPr>
                        <a:t>0.7895</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extLst>
                  <a:ext uri="{0D108BD9-81ED-4DB2-BD59-A6C34878D82A}">
                    <a16:rowId xmlns:a16="http://schemas.microsoft.com/office/drawing/2014/main" val="10002"/>
                  </a:ext>
                </a:extLst>
              </a:tr>
              <a:tr h="480060">
                <a:tc>
                  <a:txBody>
                    <a:bodyPr/>
                    <a:lstStyle/>
                    <a:p>
                      <a:pPr marL="0" indent="0">
                        <a:buNone/>
                      </a:pPr>
                      <a:r>
                        <a:rPr lang="en-US" sz="1250" dirty="0">
                          <a:solidFill>
                            <a:srgbClr val="E2E8F0"/>
                          </a:solidFill>
                          <a:latin typeface="Calibri" pitchFamily="34" charset="0"/>
                          <a:ea typeface="Calibri" pitchFamily="34" charset="-122"/>
                          <a:cs typeface="Calibri" pitchFamily="34" charset="-120"/>
                        </a:rPr>
                        <a:t>Decision Tree</a:t>
                      </a:r>
                      <a:endParaRPr lang="en-US" sz="1250" dirty="0">
                        <a:latin typeface="Calibri" charset="0"/>
                        <a:ea typeface="Calibri" charset="0"/>
                        <a:cs typeface="Calibri"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E2E8F0"/>
                          </a:solidFill>
                          <a:latin typeface="Courier New" pitchFamily="34" charset="0"/>
                          <a:ea typeface="Courier New" pitchFamily="34" charset="-122"/>
                          <a:cs typeface="Courier New" pitchFamily="34" charset="-120"/>
                        </a:rPr>
                        <a:t>0.7310</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8B93A7"/>
                          </a:solidFill>
                          <a:latin typeface="Courier New" pitchFamily="34" charset="0"/>
                          <a:ea typeface="Courier New" pitchFamily="34" charset="-122"/>
                          <a:cs typeface="Courier New" pitchFamily="34" charset="-120"/>
                        </a:rPr>
                        <a:t>0.7238</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tc>
                  <a:txBody>
                    <a:bodyPr/>
                    <a:lstStyle/>
                    <a:p>
                      <a:pPr marL="0" indent="0">
                        <a:buNone/>
                      </a:pPr>
                      <a:r>
                        <a:rPr lang="en-US" sz="1250" dirty="0">
                          <a:solidFill>
                            <a:srgbClr val="8B93A7"/>
                          </a:solidFill>
                          <a:latin typeface="Courier New" pitchFamily="34" charset="0"/>
                          <a:ea typeface="Courier New" pitchFamily="34" charset="-122"/>
                          <a:cs typeface="Courier New" pitchFamily="34" charset="-120"/>
                        </a:rPr>
                        <a:t>0.7458</a:t>
                      </a:r>
                      <a:endParaRPr lang="en-US" sz="1250" dirty="0">
                        <a:latin typeface="Courier New" charset="0"/>
                        <a:ea typeface="Courier New" charset="0"/>
                        <a:cs typeface="Courier New" charset="0"/>
                      </a:endParaRPr>
                    </a:p>
                  </a:txBody>
                  <a:tcPr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C1220"/>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251960"/>
            <a:ext cx="6492240" cy="1965960"/>
          </a:xfrm>
          <a:prstGeom prst="roundRect">
            <a:avLst>
              <a:gd name="adj" fmla="val 3721"/>
            </a:avLst>
          </a:prstGeom>
          <a:solidFill>
            <a:srgbClr val="10182B"/>
          </a:solidFill>
          <a:ln w="12700">
            <a:solidFill>
              <a:srgbClr val="1E293B"/>
            </a:solidFill>
            <a:prstDash val="solid"/>
          </a:ln>
        </p:spPr>
      </p:sp>
      <p:sp>
        <p:nvSpPr>
          <p:cNvPr id="4" name="Text 3"/>
          <p:cNvSpPr/>
          <p:nvPr/>
        </p:nvSpPr>
        <p:spPr>
          <a:xfrm>
            <a:off x="822960" y="4434840"/>
            <a:ext cx="59436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Selected: Logistic Regression, tuned</a:t>
            </a:r>
            <a:endParaRPr lang="en-US" sz="1400" dirty="0"/>
          </a:p>
        </p:txBody>
      </p:sp>
      <p:sp>
        <p:nvSpPr>
          <p:cNvPr id="7" name="Text 4"/>
          <p:cNvSpPr/>
          <p:nvPr/>
        </p:nvSpPr>
        <p:spPr>
          <a:xfrm>
            <a:off x="822960" y="4892040"/>
            <a:ext cx="5943600" cy="320040"/>
          </a:xfrm>
          <a:prstGeom prst="rect">
            <a:avLst/>
          </a:prstGeom>
          <a:noFill/>
          <a:ln/>
        </p:spPr>
        <p:txBody>
          <a:bodyPr wrap="square" rtlCol="0" anchor="ctr"/>
          <a:lstStyle/>
          <a:p>
            <a:pPr marL="0" indent="0">
              <a:buNone/>
            </a:pPr>
            <a:r>
              <a:rPr lang="en-US" sz="1150" dirty="0">
                <a:solidFill>
                  <a:srgbClr val="8B93A7"/>
                </a:solidFill>
                <a:latin typeface="Courier New" pitchFamily="34" charset="0"/>
                <a:ea typeface="Courier New" pitchFamily="34" charset="-122"/>
                <a:cs typeface="Courier New" pitchFamily="34" charset="-120"/>
              </a:rPr>
              <a:t>GridSearchCV  </a:t>
            </a:r>
            <a:r>
              <a:rPr lang="en-US" sz="1150" dirty="0">
                <a:solidFill>
                  <a:srgbClr val="3B82F6"/>
                </a:solidFill>
                <a:latin typeface="Courier New" pitchFamily="34" charset="0"/>
                <a:ea typeface="Courier New" pitchFamily="34" charset="-122"/>
                <a:cs typeface="Courier New" pitchFamily="34" charset="-120"/>
              </a:rPr>
              <a:t>→  C=100, solver=’lbfgs’, class_weight=None</a:t>
            </a:r>
            <a:endParaRPr lang="en-US" sz="1150" dirty="0"/>
          </a:p>
        </p:txBody>
      </p:sp>
      <p:sp>
        <p:nvSpPr>
          <p:cNvPr id="8" name="Text 5"/>
          <p:cNvSpPr/>
          <p:nvPr/>
        </p:nvSpPr>
        <p:spPr>
          <a:xfrm>
            <a:off x="822960" y="5257800"/>
            <a:ext cx="5943600" cy="868680"/>
          </a:xfrm>
          <a:prstGeom prst="rect">
            <a:avLst/>
          </a:prstGeom>
          <a:noFill/>
          <a:ln/>
        </p:spPr>
        <p:txBody>
          <a:bodyPr wrap="square" rtlCol="0" anchor="ctr"/>
          <a:lstStyle/>
          <a:p>
            <a:pPr marL="0" indent="0">
              <a:buNone/>
            </a:pPr>
            <a:r>
              <a:rPr lang="en-US" sz="1150" dirty="0">
                <a:solidFill>
                  <a:srgbClr val="8B93A7"/>
                </a:solidFill>
                <a:latin typeface="Calibri" pitchFamily="34" charset="0"/>
                <a:ea typeface="Calibri" pitchFamily="34" charset="-122"/>
                <a:cs typeface="Calibri" pitchFamily="34" charset="-120"/>
              </a:rPr>
              <a:t>Chosen for the best balance of F1 and ROC-AUC — not just raw accuracy — since resolved/unresolved cases are imbalanced in the data (~30% resolved).</a:t>
            </a:r>
            <a:endParaRPr lang="en-US" sz="1150" dirty="0"/>
          </a:p>
        </p:txBody>
      </p:sp>
      <p:sp>
        <p:nvSpPr>
          <p:cNvPr id="9" name="Shape 6"/>
          <p:cNvSpPr/>
          <p:nvPr/>
        </p:nvSpPr>
        <p:spPr>
          <a:xfrm>
            <a:off x="7452360" y="2057400"/>
            <a:ext cx="384048" cy="384048"/>
          </a:xfrm>
          <a:prstGeom prst="ellipse">
            <a:avLst/>
          </a:prstGeom>
          <a:solidFill>
            <a:srgbClr val="0C1220"/>
          </a:solidFill>
          <a:ln/>
        </p:spPr>
      </p:sp>
      <p:pic>
        <p:nvPicPr>
          <p:cNvPr id="10" name="Image 0" descr="/home/claude/ppt_assets/icons/arrowright.png"/>
          <p:cNvPicPr>
            <a:picLocks noChangeAspect="1"/>
          </p:cNvPicPr>
          <p:nvPr/>
        </p:nvPicPr>
        <p:blipFill>
          <a:blip r:embed="rId3"/>
          <a:stretch>
            <a:fillRect/>
          </a:stretch>
        </p:blipFill>
        <p:spPr>
          <a:xfrm>
            <a:off x="7548372" y="2153412"/>
            <a:ext cx="192024" cy="192024"/>
          </a:xfrm>
          <a:prstGeom prst="rect">
            <a:avLst/>
          </a:prstGeom>
        </p:spPr>
      </p:pic>
      <p:sp>
        <p:nvSpPr>
          <p:cNvPr id="11" name="Text 7"/>
          <p:cNvSpPr/>
          <p:nvPr/>
        </p:nvSpPr>
        <p:spPr>
          <a:xfrm>
            <a:off x="7955280" y="2039112"/>
            <a:ext cx="3566160" cy="438912"/>
          </a:xfrm>
          <a:prstGeom prst="rect">
            <a:avLst/>
          </a:prstGeom>
          <a:noFill/>
          <a:ln/>
        </p:spPr>
        <p:txBody>
          <a:bodyPr wrap="square"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Clean &amp; Encode Data</a:t>
            </a:r>
            <a:endParaRPr lang="en-US" sz="1100" dirty="0"/>
          </a:p>
        </p:txBody>
      </p:sp>
      <p:sp>
        <p:nvSpPr>
          <p:cNvPr id="12" name="Shape 8"/>
          <p:cNvSpPr/>
          <p:nvPr/>
        </p:nvSpPr>
        <p:spPr>
          <a:xfrm>
            <a:off x="7452360" y="2697480"/>
            <a:ext cx="384048" cy="384048"/>
          </a:xfrm>
          <a:prstGeom prst="ellipse">
            <a:avLst/>
          </a:prstGeom>
          <a:solidFill>
            <a:srgbClr val="0C1220"/>
          </a:solidFill>
          <a:ln/>
        </p:spPr>
      </p:sp>
      <p:pic>
        <p:nvPicPr>
          <p:cNvPr id="13" name="Image 1" descr="/home/claude/ppt_assets/icons/arrowright.png"/>
          <p:cNvPicPr>
            <a:picLocks noChangeAspect="1"/>
          </p:cNvPicPr>
          <p:nvPr/>
        </p:nvPicPr>
        <p:blipFill>
          <a:blip r:embed="rId3"/>
          <a:stretch>
            <a:fillRect/>
          </a:stretch>
        </p:blipFill>
        <p:spPr>
          <a:xfrm>
            <a:off x="7548372" y="2793492"/>
            <a:ext cx="192024" cy="192024"/>
          </a:xfrm>
          <a:prstGeom prst="rect">
            <a:avLst/>
          </a:prstGeom>
        </p:spPr>
      </p:pic>
      <p:sp>
        <p:nvSpPr>
          <p:cNvPr id="14" name="Text 9"/>
          <p:cNvSpPr/>
          <p:nvPr/>
        </p:nvSpPr>
        <p:spPr>
          <a:xfrm>
            <a:off x="7955280" y="2679192"/>
            <a:ext cx="3566160" cy="438912"/>
          </a:xfrm>
          <a:prstGeom prst="rect">
            <a:avLst/>
          </a:prstGeom>
          <a:noFill/>
          <a:ln/>
        </p:spPr>
        <p:txBody>
          <a:bodyPr wrap="square"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Train 3 Models</a:t>
            </a:r>
            <a:endParaRPr lang="en-US" sz="1100" dirty="0"/>
          </a:p>
        </p:txBody>
      </p:sp>
      <p:sp>
        <p:nvSpPr>
          <p:cNvPr id="15" name="Shape 10"/>
          <p:cNvSpPr/>
          <p:nvPr/>
        </p:nvSpPr>
        <p:spPr>
          <a:xfrm>
            <a:off x="7452360" y="3337560"/>
            <a:ext cx="384048" cy="384048"/>
          </a:xfrm>
          <a:prstGeom prst="ellipse">
            <a:avLst/>
          </a:prstGeom>
          <a:solidFill>
            <a:srgbClr val="0C1220"/>
          </a:solidFill>
          <a:ln/>
        </p:spPr>
      </p:sp>
      <p:pic>
        <p:nvPicPr>
          <p:cNvPr id="16" name="Image 2" descr="/home/claude/ppt_assets/icons/arrowright.png"/>
          <p:cNvPicPr>
            <a:picLocks noChangeAspect="1"/>
          </p:cNvPicPr>
          <p:nvPr/>
        </p:nvPicPr>
        <p:blipFill>
          <a:blip r:embed="rId3"/>
          <a:stretch>
            <a:fillRect/>
          </a:stretch>
        </p:blipFill>
        <p:spPr>
          <a:xfrm>
            <a:off x="7548372" y="3433572"/>
            <a:ext cx="192024" cy="192024"/>
          </a:xfrm>
          <a:prstGeom prst="rect">
            <a:avLst/>
          </a:prstGeom>
        </p:spPr>
      </p:pic>
      <p:sp>
        <p:nvSpPr>
          <p:cNvPr id="17" name="Text 11"/>
          <p:cNvSpPr/>
          <p:nvPr/>
        </p:nvSpPr>
        <p:spPr>
          <a:xfrm>
            <a:off x="7955280" y="3319272"/>
            <a:ext cx="3566160" cy="438912"/>
          </a:xfrm>
          <a:prstGeom prst="rect">
            <a:avLst/>
          </a:prstGeom>
          <a:noFill/>
          <a:ln/>
        </p:spPr>
        <p:txBody>
          <a:bodyPr wrap="square"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Compare F1 / ROC-AUC</a:t>
            </a:r>
            <a:endParaRPr lang="en-US" sz="1100" dirty="0"/>
          </a:p>
        </p:txBody>
      </p:sp>
      <p:sp>
        <p:nvSpPr>
          <p:cNvPr id="18" name="Shape 12"/>
          <p:cNvSpPr/>
          <p:nvPr/>
        </p:nvSpPr>
        <p:spPr>
          <a:xfrm>
            <a:off x="7452360" y="3977640"/>
            <a:ext cx="384048" cy="384048"/>
          </a:xfrm>
          <a:prstGeom prst="ellipse">
            <a:avLst/>
          </a:prstGeom>
          <a:solidFill>
            <a:srgbClr val="0C1220"/>
          </a:solidFill>
          <a:ln/>
        </p:spPr>
      </p:sp>
      <p:pic>
        <p:nvPicPr>
          <p:cNvPr id="19" name="Image 3" descr="/home/claude/ppt_assets/icons/arrowright.png"/>
          <p:cNvPicPr>
            <a:picLocks noChangeAspect="1"/>
          </p:cNvPicPr>
          <p:nvPr/>
        </p:nvPicPr>
        <p:blipFill>
          <a:blip r:embed="rId3"/>
          <a:stretch>
            <a:fillRect/>
          </a:stretch>
        </p:blipFill>
        <p:spPr>
          <a:xfrm>
            <a:off x="7548372" y="4073652"/>
            <a:ext cx="192024" cy="192024"/>
          </a:xfrm>
          <a:prstGeom prst="rect">
            <a:avLst/>
          </a:prstGeom>
        </p:spPr>
      </p:pic>
      <p:sp>
        <p:nvSpPr>
          <p:cNvPr id="20" name="Text 13"/>
          <p:cNvSpPr/>
          <p:nvPr/>
        </p:nvSpPr>
        <p:spPr>
          <a:xfrm>
            <a:off x="7955280" y="3959352"/>
            <a:ext cx="3566160" cy="438912"/>
          </a:xfrm>
          <a:prstGeom prst="rect">
            <a:avLst/>
          </a:prstGeom>
          <a:noFill/>
          <a:ln/>
        </p:spPr>
        <p:txBody>
          <a:bodyPr wrap="square"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Tune Winner (GridSearchCV)</a:t>
            </a:r>
            <a:endParaRPr lang="en-US" sz="1100" dirty="0"/>
          </a:p>
        </p:txBody>
      </p:sp>
      <p:sp>
        <p:nvSpPr>
          <p:cNvPr id="21" name="Shape 14"/>
          <p:cNvSpPr/>
          <p:nvPr/>
        </p:nvSpPr>
        <p:spPr>
          <a:xfrm>
            <a:off x="7452360" y="4617720"/>
            <a:ext cx="384048" cy="384048"/>
          </a:xfrm>
          <a:prstGeom prst="ellipse">
            <a:avLst/>
          </a:prstGeom>
          <a:solidFill>
            <a:srgbClr val="12233F"/>
          </a:solidFill>
          <a:ln/>
        </p:spPr>
      </p:sp>
      <p:pic>
        <p:nvPicPr>
          <p:cNvPr id="22" name="Image 4" descr="/home/claude/ppt_assets/icons/arrowright.png"/>
          <p:cNvPicPr>
            <a:picLocks noChangeAspect="1"/>
          </p:cNvPicPr>
          <p:nvPr/>
        </p:nvPicPr>
        <p:blipFill>
          <a:blip r:embed="rId3"/>
          <a:stretch>
            <a:fillRect/>
          </a:stretch>
        </p:blipFill>
        <p:spPr>
          <a:xfrm>
            <a:off x="7548372" y="4713732"/>
            <a:ext cx="192024" cy="192024"/>
          </a:xfrm>
          <a:prstGeom prst="rect">
            <a:avLst/>
          </a:prstGeom>
        </p:spPr>
      </p:pic>
      <p:sp>
        <p:nvSpPr>
          <p:cNvPr id="23" name="Text 15"/>
          <p:cNvSpPr/>
          <p:nvPr/>
        </p:nvSpPr>
        <p:spPr>
          <a:xfrm>
            <a:off x="7955280" y="4599432"/>
            <a:ext cx="3566160" cy="438912"/>
          </a:xfrm>
          <a:prstGeom prst="rect">
            <a:avLst/>
          </a:prstGeom>
          <a:noFill/>
          <a:ln/>
        </p:spPr>
        <p:txBody>
          <a:bodyPr wrap="square"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Save Model + Columns (joblib)</a:t>
            </a:r>
            <a:endParaRPr lang="en-US" sz="1100" dirty="0"/>
          </a:p>
        </p:txBody>
      </p:sp>
      <p:sp>
        <p:nvSpPr>
          <p:cNvPr id="24" name="Text 16"/>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25" name="Text 17"/>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SYSTEM DESIGN</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System Architecture</a:t>
            </a:r>
            <a:endParaRPr lang="en-US" sz="3200" dirty="0"/>
          </a:p>
        </p:txBody>
      </p:sp>
      <p:sp>
        <p:nvSpPr>
          <p:cNvPr id="4" name="Text 2"/>
          <p:cNvSpPr/>
          <p:nvPr/>
        </p:nvSpPr>
        <p:spPr>
          <a:xfrm>
            <a:off x="548640" y="1417320"/>
            <a:ext cx="10607040" cy="457200"/>
          </a:xfrm>
          <a:prstGeom prst="rect">
            <a:avLst/>
          </a:prstGeom>
          <a:noFill/>
          <a:ln/>
        </p:spPr>
        <p:txBody>
          <a:bodyPr wrap="square" rtlCol="0" anchor="ctr"/>
          <a:lstStyle/>
          <a:p>
            <a:pPr marL="0" indent="0">
              <a:buNone/>
            </a:pPr>
            <a:r>
              <a:rPr lang="en-US" sz="1250" dirty="0">
                <a:solidFill>
                  <a:srgbClr val="8B93A7"/>
                </a:solidFill>
                <a:latin typeface="Calibri" pitchFamily="34" charset="0"/>
                <a:ea typeface="Calibri" pitchFamily="34" charset="-122"/>
                <a:cs typeface="Calibri" pitchFamily="34" charset="-120"/>
              </a:rPr>
              <a:t>A single Flask application serves both the HTML pages and the prediction API — no separate frontend/backend split.</a:t>
            </a:r>
            <a:endParaRPr lang="en-US" sz="1250" dirty="0"/>
          </a:p>
        </p:txBody>
      </p:sp>
      <p:sp>
        <p:nvSpPr>
          <p:cNvPr id="5" name="Shape 3"/>
          <p:cNvSpPr/>
          <p:nvPr/>
        </p:nvSpPr>
        <p:spPr>
          <a:xfrm>
            <a:off x="548640" y="2286000"/>
            <a:ext cx="3291840" cy="3931920"/>
          </a:xfrm>
          <a:prstGeom prst="roundRect">
            <a:avLst>
              <a:gd name="adj" fmla="val 2222"/>
            </a:avLst>
          </a:prstGeom>
          <a:solidFill>
            <a:srgbClr val="0C1220"/>
          </a:solidFill>
          <a:ln w="12700">
            <a:solidFill>
              <a:srgbClr val="1E293B"/>
            </a:solidFill>
            <a:prstDash val="solid"/>
          </a:ln>
        </p:spPr>
      </p:sp>
      <p:sp>
        <p:nvSpPr>
          <p:cNvPr id="6" name="Shape 4"/>
          <p:cNvSpPr/>
          <p:nvPr/>
        </p:nvSpPr>
        <p:spPr>
          <a:xfrm>
            <a:off x="868680" y="2560320"/>
            <a:ext cx="548640" cy="548640"/>
          </a:xfrm>
          <a:prstGeom prst="ellipse">
            <a:avLst/>
          </a:prstGeom>
          <a:solidFill>
            <a:srgbClr val="12233F"/>
          </a:solidFill>
          <a:ln/>
        </p:spPr>
      </p:sp>
      <p:pic>
        <p:nvPicPr>
          <p:cNvPr id="7" name="Image 0" descr="/home/claude/ppt_assets/icons/monitor.png"/>
          <p:cNvPicPr>
            <a:picLocks noChangeAspect="1"/>
          </p:cNvPicPr>
          <p:nvPr/>
        </p:nvPicPr>
        <p:blipFill>
          <a:blip r:embed="rId3"/>
          <a:stretch>
            <a:fillRect/>
          </a:stretch>
        </p:blipFill>
        <p:spPr>
          <a:xfrm>
            <a:off x="1000354" y="2691994"/>
            <a:ext cx="285293" cy="285293"/>
          </a:xfrm>
          <a:prstGeom prst="rect">
            <a:avLst/>
          </a:prstGeom>
        </p:spPr>
      </p:pic>
      <p:sp>
        <p:nvSpPr>
          <p:cNvPr id="8" name="Text 5"/>
          <p:cNvSpPr/>
          <p:nvPr/>
        </p:nvSpPr>
        <p:spPr>
          <a:xfrm>
            <a:off x="1554480" y="2606040"/>
            <a:ext cx="2194560" cy="45720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Browser (Client)</a:t>
            </a:r>
            <a:endParaRPr lang="en-US" sz="1400" dirty="0"/>
          </a:p>
        </p:txBody>
      </p:sp>
      <p:sp>
        <p:nvSpPr>
          <p:cNvPr id="9" name="Text 6"/>
          <p:cNvSpPr/>
          <p:nvPr/>
        </p:nvSpPr>
        <p:spPr>
          <a:xfrm>
            <a:off x="868680" y="333756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HTML5 / CSS3 / JS</a:t>
            </a:r>
            <a:endParaRPr lang="en-US" sz="1050" dirty="0"/>
          </a:p>
        </p:txBody>
      </p:sp>
      <p:sp>
        <p:nvSpPr>
          <p:cNvPr id="10" name="Text 7"/>
          <p:cNvSpPr/>
          <p:nvPr/>
        </p:nvSpPr>
        <p:spPr>
          <a:xfrm>
            <a:off x="868680" y="384048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fetch() → /api/predict</a:t>
            </a:r>
            <a:endParaRPr lang="en-US" sz="1050" dirty="0"/>
          </a:p>
        </p:txBody>
      </p:sp>
      <p:sp>
        <p:nvSpPr>
          <p:cNvPr id="11" name="Text 8"/>
          <p:cNvSpPr/>
          <p:nvPr/>
        </p:nvSpPr>
        <p:spPr>
          <a:xfrm>
            <a:off x="868680" y="434340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localStorage — case history</a:t>
            </a:r>
            <a:endParaRPr lang="en-US" sz="1050" dirty="0"/>
          </a:p>
        </p:txBody>
      </p:sp>
      <p:sp>
        <p:nvSpPr>
          <p:cNvPr id="12" name="Text 9"/>
          <p:cNvSpPr/>
          <p:nvPr/>
        </p:nvSpPr>
        <p:spPr>
          <a:xfrm>
            <a:off x="868680" y="484632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window.print() → case ticket PDF</a:t>
            </a:r>
            <a:endParaRPr lang="en-US" sz="1050" dirty="0"/>
          </a:p>
        </p:txBody>
      </p:sp>
      <p:sp>
        <p:nvSpPr>
          <p:cNvPr id="13" name="Shape 10"/>
          <p:cNvSpPr/>
          <p:nvPr/>
        </p:nvSpPr>
        <p:spPr>
          <a:xfrm>
            <a:off x="3977640" y="3977640"/>
            <a:ext cx="822960" cy="457200"/>
          </a:xfrm>
          <a:prstGeom prst="rightArrow">
            <a:avLst/>
          </a:prstGeom>
          <a:solidFill>
            <a:srgbClr val="3B82F6"/>
          </a:solidFill>
          <a:ln/>
        </p:spPr>
      </p:sp>
      <p:sp>
        <p:nvSpPr>
          <p:cNvPr id="14" name="Text 11"/>
          <p:cNvSpPr/>
          <p:nvPr/>
        </p:nvSpPr>
        <p:spPr>
          <a:xfrm>
            <a:off x="3840480" y="3520440"/>
            <a:ext cx="1097280" cy="320040"/>
          </a:xfrm>
          <a:prstGeom prst="rect">
            <a:avLst/>
          </a:prstGeom>
          <a:noFill/>
          <a:ln/>
        </p:spPr>
        <p:txBody>
          <a:bodyPr wrap="square" rtlCol="0" anchor="ctr"/>
          <a:lstStyle/>
          <a:p>
            <a:pPr marL="0" indent="0" algn="ctr">
              <a:buNone/>
            </a:pPr>
            <a:r>
              <a:rPr lang="en-US" sz="900" dirty="0">
                <a:solidFill>
                  <a:srgbClr val="8B93A7"/>
                </a:solidFill>
                <a:latin typeface="Courier New" pitchFamily="34" charset="0"/>
                <a:ea typeface="Courier New" pitchFamily="34" charset="-122"/>
                <a:cs typeface="Courier New" pitchFamily="34" charset="-120"/>
              </a:rPr>
              <a:t>HTTP / JSON</a:t>
            </a:r>
            <a:endParaRPr lang="en-US" sz="900" dirty="0"/>
          </a:p>
        </p:txBody>
      </p:sp>
      <p:sp>
        <p:nvSpPr>
          <p:cNvPr id="15" name="Shape 12"/>
          <p:cNvSpPr/>
          <p:nvPr/>
        </p:nvSpPr>
        <p:spPr>
          <a:xfrm>
            <a:off x="4937760" y="2286000"/>
            <a:ext cx="3291840" cy="3931920"/>
          </a:xfrm>
          <a:prstGeom prst="roundRect">
            <a:avLst>
              <a:gd name="adj" fmla="val 2222"/>
            </a:avLst>
          </a:prstGeom>
          <a:solidFill>
            <a:srgbClr val="0C1220"/>
          </a:solidFill>
          <a:ln w="12700">
            <a:solidFill>
              <a:srgbClr val="3B82F6"/>
            </a:solidFill>
            <a:prstDash val="solid"/>
          </a:ln>
        </p:spPr>
      </p:sp>
      <p:sp>
        <p:nvSpPr>
          <p:cNvPr id="16" name="Shape 13"/>
          <p:cNvSpPr/>
          <p:nvPr/>
        </p:nvSpPr>
        <p:spPr>
          <a:xfrm>
            <a:off x="5257800" y="2560320"/>
            <a:ext cx="548640" cy="548640"/>
          </a:xfrm>
          <a:prstGeom prst="ellipse">
            <a:avLst/>
          </a:prstGeom>
          <a:solidFill>
            <a:srgbClr val="12233F"/>
          </a:solidFill>
          <a:ln/>
        </p:spPr>
      </p:sp>
      <p:pic>
        <p:nvPicPr>
          <p:cNvPr id="17" name="Image 1" descr="/home/claude/ppt_assets/icons/cpu.png"/>
          <p:cNvPicPr>
            <a:picLocks noChangeAspect="1"/>
          </p:cNvPicPr>
          <p:nvPr/>
        </p:nvPicPr>
        <p:blipFill>
          <a:blip r:embed="rId4"/>
          <a:stretch>
            <a:fillRect/>
          </a:stretch>
        </p:blipFill>
        <p:spPr>
          <a:xfrm>
            <a:off x="5389474" y="2691994"/>
            <a:ext cx="285293" cy="285293"/>
          </a:xfrm>
          <a:prstGeom prst="rect">
            <a:avLst/>
          </a:prstGeom>
        </p:spPr>
      </p:pic>
      <p:sp>
        <p:nvSpPr>
          <p:cNvPr id="18" name="Text 14"/>
          <p:cNvSpPr/>
          <p:nvPr/>
        </p:nvSpPr>
        <p:spPr>
          <a:xfrm>
            <a:off x="5943600" y="2606040"/>
            <a:ext cx="2194560" cy="45720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Flask Server</a:t>
            </a:r>
            <a:endParaRPr lang="en-US" sz="1400" dirty="0"/>
          </a:p>
        </p:txBody>
      </p:sp>
      <p:sp>
        <p:nvSpPr>
          <p:cNvPr id="19" name="Text 15"/>
          <p:cNvSpPr/>
          <p:nvPr/>
        </p:nvSpPr>
        <p:spPr>
          <a:xfrm>
            <a:off x="5257800" y="333756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Jinja2 page routes</a:t>
            </a:r>
            <a:endParaRPr lang="en-US" sz="1050" dirty="0"/>
          </a:p>
        </p:txBody>
      </p:sp>
      <p:sp>
        <p:nvSpPr>
          <p:cNvPr id="20" name="Text 16"/>
          <p:cNvSpPr/>
          <p:nvPr/>
        </p:nvSpPr>
        <p:spPr>
          <a:xfrm>
            <a:off x="5257800" y="384048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/api/predict (JSON)</a:t>
            </a:r>
            <a:endParaRPr lang="en-US" sz="1050" dirty="0"/>
          </a:p>
        </p:txBody>
      </p:sp>
      <p:sp>
        <p:nvSpPr>
          <p:cNvPr id="21" name="Text 17"/>
          <p:cNvSpPr/>
          <p:nvPr/>
        </p:nvSpPr>
        <p:spPr>
          <a:xfrm>
            <a:off x="5257800" y="4343400"/>
            <a:ext cx="2743200" cy="411480"/>
          </a:xfrm>
          <a:prstGeom prst="rect">
            <a:avLst/>
          </a:prstGeom>
          <a:noFill/>
          <a:ln/>
        </p:spPr>
        <p:txBody>
          <a:bodyPr wrap="square" rtlCol="0" anchor="t"/>
          <a:lstStyle/>
          <a:p>
            <a:r>
              <a:rPr lang="en-US" sz="1050" dirty="0">
                <a:solidFill>
                  <a:schemeClr val="bg2">
                    <a:lumMod val="90000"/>
                  </a:schemeClr>
                </a:solidFill>
                <a:latin typeface="Courier New" panose="02070309020205020404" pitchFamily="49" charset="0"/>
                <a:ea typeface="Courier New" pitchFamily="34" charset="-122"/>
                <a:cs typeface="Courier New" panose="02070309020205020404" pitchFamily="49" charset="0"/>
              </a:rPr>
              <a:t>• </a:t>
            </a:r>
            <a:r>
              <a:rPr lang="en-IN" sz="1000" dirty="0">
                <a:solidFill>
                  <a:schemeClr val="bg2">
                    <a:lumMod val="90000"/>
                  </a:schemeClr>
                </a:solidFill>
                <a:latin typeface="Courier New" panose="02070309020205020404" pitchFamily="49" charset="0"/>
                <a:cs typeface="Courier New" panose="02070309020205020404" pitchFamily="49" charset="0"/>
              </a:rPr>
              <a:t>Data preprocessing + model inference</a:t>
            </a:r>
            <a:endParaRPr lang="en-US" sz="1000" dirty="0">
              <a:solidFill>
                <a:schemeClr val="bg2">
                  <a:lumMod val="90000"/>
                </a:schemeClr>
              </a:solidFill>
              <a:latin typeface="Courier New" panose="02070309020205020404" pitchFamily="49" charset="0"/>
              <a:cs typeface="Courier New" panose="02070309020205020404" pitchFamily="49" charset="0"/>
            </a:endParaRPr>
          </a:p>
        </p:txBody>
      </p:sp>
      <p:sp>
        <p:nvSpPr>
          <p:cNvPr id="22" name="Text 18"/>
          <p:cNvSpPr/>
          <p:nvPr/>
        </p:nvSpPr>
        <p:spPr>
          <a:xfrm>
            <a:off x="5257800" y="4846320"/>
            <a:ext cx="2743200" cy="411480"/>
          </a:xfrm>
          <a:prstGeom prst="rect">
            <a:avLst/>
          </a:prstGeom>
          <a:noFill/>
          <a:ln/>
        </p:spPr>
        <p:txBody>
          <a:bodyPr wrap="square"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 Risk / officers / action-plan rules</a:t>
            </a:r>
            <a:endParaRPr lang="en-US" sz="1050" dirty="0"/>
          </a:p>
        </p:txBody>
      </p:sp>
      <p:sp>
        <p:nvSpPr>
          <p:cNvPr id="23" name="Shape 19"/>
          <p:cNvSpPr/>
          <p:nvPr/>
        </p:nvSpPr>
        <p:spPr>
          <a:xfrm>
            <a:off x="8366760" y="3977640"/>
            <a:ext cx="548640" cy="457200"/>
          </a:xfrm>
          <a:prstGeom prst="rightArrow">
            <a:avLst/>
          </a:prstGeom>
          <a:solidFill>
            <a:srgbClr val="EF4444"/>
          </a:solidFill>
          <a:ln/>
        </p:spPr>
      </p:sp>
      <p:sp>
        <p:nvSpPr>
          <p:cNvPr id="24" name="Shape 20"/>
          <p:cNvSpPr/>
          <p:nvPr/>
        </p:nvSpPr>
        <p:spPr>
          <a:xfrm>
            <a:off x="9052560" y="2286000"/>
            <a:ext cx="2606040" cy="3931920"/>
          </a:xfrm>
          <a:prstGeom prst="roundRect">
            <a:avLst>
              <a:gd name="adj" fmla="val 2807"/>
            </a:avLst>
          </a:prstGeom>
          <a:solidFill>
            <a:srgbClr val="0C1220"/>
          </a:solidFill>
          <a:ln w="12700">
            <a:solidFill>
              <a:srgbClr val="1E293B"/>
            </a:solidFill>
            <a:prstDash val="solid"/>
          </a:ln>
        </p:spPr>
      </p:sp>
      <p:sp>
        <p:nvSpPr>
          <p:cNvPr id="25" name="Shape 21"/>
          <p:cNvSpPr/>
          <p:nvPr/>
        </p:nvSpPr>
        <p:spPr>
          <a:xfrm>
            <a:off x="9281160" y="2560320"/>
            <a:ext cx="548640" cy="548640"/>
          </a:xfrm>
          <a:prstGeom prst="ellipse">
            <a:avLst/>
          </a:prstGeom>
          <a:solidFill>
            <a:srgbClr val="3A1414"/>
          </a:solidFill>
          <a:ln/>
        </p:spPr>
      </p:sp>
      <p:pic>
        <p:nvPicPr>
          <p:cNvPr id="26" name="Image 2" descr="/home/claude/ppt_assets/icons/database.png"/>
          <p:cNvPicPr>
            <a:picLocks noChangeAspect="1"/>
          </p:cNvPicPr>
          <p:nvPr/>
        </p:nvPicPr>
        <p:blipFill>
          <a:blip r:embed="rId5"/>
          <a:stretch>
            <a:fillRect/>
          </a:stretch>
        </p:blipFill>
        <p:spPr>
          <a:xfrm>
            <a:off x="9412834" y="2691994"/>
            <a:ext cx="285293" cy="285293"/>
          </a:xfrm>
          <a:prstGeom prst="rect">
            <a:avLst/>
          </a:prstGeom>
        </p:spPr>
      </p:pic>
      <p:sp>
        <p:nvSpPr>
          <p:cNvPr id="27" name="Text 22"/>
          <p:cNvSpPr/>
          <p:nvPr/>
        </p:nvSpPr>
        <p:spPr>
          <a:xfrm>
            <a:off x="9098280" y="3246120"/>
            <a:ext cx="237744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Trained Model</a:t>
            </a:r>
            <a:endParaRPr lang="en-US" sz="1300" dirty="0"/>
          </a:p>
        </p:txBody>
      </p:sp>
      <p:sp>
        <p:nvSpPr>
          <p:cNvPr id="28" name="Text 23"/>
          <p:cNvSpPr/>
          <p:nvPr/>
        </p:nvSpPr>
        <p:spPr>
          <a:xfrm>
            <a:off x="9098280" y="3657600"/>
            <a:ext cx="2377440" cy="548640"/>
          </a:xfrm>
          <a:prstGeom prst="rect">
            <a:avLst/>
          </a:prstGeom>
          <a:noFill/>
          <a:ln/>
        </p:spPr>
        <p:txBody>
          <a:bodyPr wrap="square" rtlCol="0" anchor="ctr"/>
          <a:lstStyle/>
          <a:p>
            <a:pPr marL="0" indent="0" algn="ctr">
              <a:buNone/>
            </a:pPr>
            <a:r>
              <a:rPr lang="en-US" sz="1050" dirty="0">
                <a:solidFill>
                  <a:srgbClr val="EF4444"/>
                </a:solidFill>
                <a:latin typeface="Courier New" pitchFamily="34" charset="0"/>
                <a:ea typeface="Courier New" pitchFamily="34" charset="-122"/>
                <a:cs typeface="Courier New" pitchFamily="34" charset="-120"/>
              </a:rPr>
              <a:t>Logistic Regression</a:t>
            </a:r>
            <a:endParaRPr lang="en-US" sz="1050" dirty="0"/>
          </a:p>
          <a:p>
            <a:pPr marL="0" indent="0" algn="ctr">
              <a:buNone/>
            </a:pPr>
            <a:r>
              <a:rPr lang="en-US" sz="1050" dirty="0">
                <a:solidFill>
                  <a:srgbClr val="EF4444"/>
                </a:solidFill>
                <a:latin typeface="Courier New" pitchFamily="34" charset="0"/>
                <a:ea typeface="Courier New" pitchFamily="34" charset="-122"/>
                <a:cs typeface="Courier New" pitchFamily="34" charset="-120"/>
              </a:rPr>
              <a:t>(joblib .pkl)</a:t>
            </a:r>
            <a:endParaRPr lang="en-US" sz="1050" dirty="0"/>
          </a:p>
        </p:txBody>
      </p:sp>
      <p:sp>
        <p:nvSpPr>
          <p:cNvPr id="29" name="Text 24"/>
          <p:cNvSpPr/>
          <p:nvPr/>
        </p:nvSpPr>
        <p:spPr>
          <a:xfrm>
            <a:off x="9098280" y="4434840"/>
            <a:ext cx="2377440" cy="548640"/>
          </a:xfrm>
          <a:prstGeom prst="rect">
            <a:avLst/>
          </a:prstGeom>
          <a:noFill/>
          <a:ln/>
        </p:spPr>
        <p:txBody>
          <a:bodyPr wrap="square" rtlCol="0" anchor="ctr"/>
          <a:lstStyle/>
          <a:p>
            <a:pPr marL="0" indent="0" algn="ctr">
              <a:buNone/>
            </a:pPr>
            <a:r>
              <a:rPr lang="en-US" sz="1000" i="1" dirty="0">
                <a:solidFill>
                  <a:srgbClr val="8B93A7"/>
                </a:solidFill>
                <a:latin typeface="Calibri" pitchFamily="34" charset="0"/>
                <a:ea typeface="Calibri" pitchFamily="34" charset="-122"/>
                <a:cs typeface="Calibri" pitchFamily="34" charset="-120"/>
              </a:rPr>
              <a:t>Loaded once at</a:t>
            </a:r>
            <a:endParaRPr lang="en-US" sz="1000" dirty="0"/>
          </a:p>
          <a:p>
            <a:pPr marL="0" indent="0" algn="ctr">
              <a:buNone/>
            </a:pPr>
            <a:r>
              <a:rPr lang="en-US" sz="1000" i="1" dirty="0">
                <a:solidFill>
                  <a:srgbClr val="8B93A7"/>
                </a:solidFill>
                <a:latin typeface="Calibri" pitchFamily="34" charset="0"/>
                <a:ea typeface="Calibri" pitchFamily="34" charset="-122"/>
                <a:cs typeface="Calibri" pitchFamily="34" charset="-120"/>
              </a:rPr>
              <a:t>server startup</a:t>
            </a:r>
            <a:endParaRPr lang="en-US" sz="1000" dirty="0"/>
          </a:p>
        </p:txBody>
      </p:sp>
      <p:sp>
        <p:nvSpPr>
          <p:cNvPr id="30" name="Text 25"/>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31" name="Text 26"/>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USER JOURNEY</a:t>
            </a:r>
            <a:endParaRPr lang="en-US" sz="1200" dirty="0"/>
          </a:p>
        </p:txBody>
      </p:sp>
      <p:sp>
        <p:nvSpPr>
          <p:cNvPr id="3" name="Text 1"/>
          <p:cNvSpPr/>
          <p:nvPr/>
        </p:nvSpPr>
        <p:spPr>
          <a:xfrm>
            <a:off x="548640" y="812043"/>
            <a:ext cx="10789920" cy="82296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From Form Submit to Case Report</a:t>
            </a:r>
            <a:endParaRPr lang="en-US" sz="3200" dirty="0"/>
          </a:p>
        </p:txBody>
      </p:sp>
      <p:sp>
        <p:nvSpPr>
          <p:cNvPr id="4" name="Shape 2"/>
          <p:cNvSpPr/>
          <p:nvPr/>
        </p:nvSpPr>
        <p:spPr>
          <a:xfrm>
            <a:off x="548640" y="2743200"/>
            <a:ext cx="1965960" cy="2377440"/>
          </a:xfrm>
          <a:prstGeom prst="roundRect">
            <a:avLst>
              <a:gd name="adj" fmla="val 3721"/>
            </a:avLst>
          </a:prstGeom>
          <a:solidFill>
            <a:srgbClr val="10182B"/>
          </a:solidFill>
          <a:ln w="12700">
            <a:solidFill>
              <a:srgbClr val="1E293B"/>
            </a:solidFill>
            <a:prstDash val="solid"/>
          </a:ln>
        </p:spPr>
      </p:sp>
      <p:sp>
        <p:nvSpPr>
          <p:cNvPr id="5" name="Shape 3"/>
          <p:cNvSpPr/>
          <p:nvPr/>
        </p:nvSpPr>
        <p:spPr>
          <a:xfrm>
            <a:off x="1211580" y="3017520"/>
            <a:ext cx="640080" cy="640080"/>
          </a:xfrm>
          <a:prstGeom prst="ellipse">
            <a:avLst/>
          </a:prstGeom>
          <a:solidFill>
            <a:srgbClr val="12233F"/>
          </a:solidFill>
          <a:ln/>
        </p:spPr>
      </p:sp>
      <p:pic>
        <p:nvPicPr>
          <p:cNvPr id="6" name="Image 0" descr="/home/claude/ppt_assets/icons/filetext.png"/>
          <p:cNvPicPr>
            <a:picLocks noChangeAspect="1"/>
          </p:cNvPicPr>
          <p:nvPr/>
        </p:nvPicPr>
        <p:blipFill>
          <a:blip r:embed="rId3"/>
          <a:stretch>
            <a:fillRect/>
          </a:stretch>
        </p:blipFill>
        <p:spPr>
          <a:xfrm>
            <a:off x="1365199" y="3171139"/>
            <a:ext cx="332842" cy="332842"/>
          </a:xfrm>
          <a:prstGeom prst="rect">
            <a:avLst/>
          </a:prstGeom>
        </p:spPr>
      </p:pic>
      <p:sp>
        <p:nvSpPr>
          <p:cNvPr id="7" name="Text 4"/>
          <p:cNvSpPr/>
          <p:nvPr/>
        </p:nvSpPr>
        <p:spPr>
          <a:xfrm>
            <a:off x="685800" y="2788920"/>
            <a:ext cx="548640" cy="274320"/>
          </a:xfrm>
          <a:prstGeom prst="rect">
            <a:avLst/>
          </a:prstGeom>
          <a:noFill/>
          <a:ln/>
        </p:spPr>
        <p:txBody>
          <a:bodyPr wrap="square" rtlCol="0" anchor="ctr"/>
          <a:lstStyle/>
          <a:p>
            <a:pPr marL="0" indent="0">
              <a:buNone/>
            </a:pPr>
            <a:r>
              <a:rPr lang="en-US" sz="1000" dirty="0">
                <a:solidFill>
                  <a:srgbClr val="5C6478"/>
                </a:solidFill>
                <a:latin typeface="Courier New" pitchFamily="34" charset="0"/>
                <a:ea typeface="Courier New" pitchFamily="34" charset="-122"/>
                <a:cs typeface="Courier New" pitchFamily="34" charset="-120"/>
              </a:rPr>
              <a:t>01</a:t>
            </a:r>
            <a:endParaRPr lang="en-US" sz="1000" dirty="0"/>
          </a:p>
        </p:txBody>
      </p:sp>
      <p:sp>
        <p:nvSpPr>
          <p:cNvPr id="8" name="Text 5"/>
          <p:cNvSpPr/>
          <p:nvPr/>
        </p:nvSpPr>
        <p:spPr>
          <a:xfrm>
            <a:off x="685800" y="3794760"/>
            <a:ext cx="1691640" cy="5943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Fill Incident Report</a:t>
            </a:r>
            <a:endParaRPr lang="en-US" sz="1200" dirty="0"/>
          </a:p>
        </p:txBody>
      </p:sp>
      <p:sp>
        <p:nvSpPr>
          <p:cNvPr id="9" name="Text 6"/>
          <p:cNvSpPr/>
          <p:nvPr/>
        </p:nvSpPr>
        <p:spPr>
          <a:xfrm>
            <a:off x="685800" y="4343400"/>
            <a:ext cx="1691640" cy="685800"/>
          </a:xfrm>
          <a:prstGeom prst="rect">
            <a:avLst/>
          </a:prstGeom>
          <a:noFill/>
          <a:ln/>
        </p:spPr>
        <p:txBody>
          <a:bodyPr wrap="square" rtlCol="0" anchor="ctr"/>
          <a:lstStyle/>
          <a:p>
            <a:pPr marL="0" indent="0" algn="ctr">
              <a:buNone/>
            </a:pPr>
            <a:r>
              <a:rPr lang="en-US" sz="1000" dirty="0">
                <a:solidFill>
                  <a:srgbClr val="8B93A7"/>
                </a:solidFill>
                <a:latin typeface="Calibri" pitchFamily="34" charset="0"/>
                <a:ea typeface="Calibri" pitchFamily="34" charset="-122"/>
                <a:cs typeface="Calibri" pitchFamily="34" charset="-120"/>
              </a:rPr>
              <a:t>9 case fields on the Home page.</a:t>
            </a:r>
            <a:endParaRPr lang="en-US" sz="1000" dirty="0"/>
          </a:p>
        </p:txBody>
      </p:sp>
      <p:sp>
        <p:nvSpPr>
          <p:cNvPr id="10" name="Shape 7"/>
          <p:cNvSpPr/>
          <p:nvPr/>
        </p:nvSpPr>
        <p:spPr>
          <a:xfrm>
            <a:off x="2532888" y="3840480"/>
            <a:ext cx="146304" cy="182880"/>
          </a:xfrm>
          <a:prstGeom prst="rightArrow">
            <a:avLst/>
          </a:prstGeom>
          <a:solidFill>
            <a:srgbClr val="5C6478"/>
          </a:solidFill>
          <a:ln/>
        </p:spPr>
      </p:sp>
      <p:sp>
        <p:nvSpPr>
          <p:cNvPr id="11" name="Shape 8"/>
          <p:cNvSpPr/>
          <p:nvPr/>
        </p:nvSpPr>
        <p:spPr>
          <a:xfrm>
            <a:off x="2679192" y="2743200"/>
            <a:ext cx="1965960" cy="2377440"/>
          </a:xfrm>
          <a:prstGeom prst="roundRect">
            <a:avLst>
              <a:gd name="adj" fmla="val 3721"/>
            </a:avLst>
          </a:prstGeom>
          <a:solidFill>
            <a:srgbClr val="10182B"/>
          </a:solidFill>
          <a:ln w="12700">
            <a:solidFill>
              <a:srgbClr val="1E293B"/>
            </a:solidFill>
            <a:prstDash val="solid"/>
          </a:ln>
        </p:spPr>
      </p:sp>
      <p:sp>
        <p:nvSpPr>
          <p:cNvPr id="12" name="Shape 9"/>
          <p:cNvSpPr/>
          <p:nvPr/>
        </p:nvSpPr>
        <p:spPr>
          <a:xfrm>
            <a:off x="3342132" y="3017520"/>
            <a:ext cx="640080" cy="640080"/>
          </a:xfrm>
          <a:prstGeom prst="ellipse">
            <a:avLst/>
          </a:prstGeom>
          <a:solidFill>
            <a:srgbClr val="12233F"/>
          </a:solidFill>
          <a:ln/>
        </p:spPr>
      </p:sp>
      <p:pic>
        <p:nvPicPr>
          <p:cNvPr id="13" name="Image 1" descr="/home/claude/ppt_assets/icons/cpu.png"/>
          <p:cNvPicPr>
            <a:picLocks noChangeAspect="1"/>
          </p:cNvPicPr>
          <p:nvPr/>
        </p:nvPicPr>
        <p:blipFill>
          <a:blip r:embed="rId4"/>
          <a:stretch>
            <a:fillRect/>
          </a:stretch>
        </p:blipFill>
        <p:spPr>
          <a:xfrm>
            <a:off x="3495751" y="3171139"/>
            <a:ext cx="332842" cy="332842"/>
          </a:xfrm>
          <a:prstGeom prst="rect">
            <a:avLst/>
          </a:prstGeom>
        </p:spPr>
      </p:pic>
      <p:sp>
        <p:nvSpPr>
          <p:cNvPr id="14" name="Text 10"/>
          <p:cNvSpPr/>
          <p:nvPr/>
        </p:nvSpPr>
        <p:spPr>
          <a:xfrm>
            <a:off x="2816352" y="2788920"/>
            <a:ext cx="548640" cy="274320"/>
          </a:xfrm>
          <a:prstGeom prst="rect">
            <a:avLst/>
          </a:prstGeom>
          <a:noFill/>
          <a:ln/>
        </p:spPr>
        <p:txBody>
          <a:bodyPr wrap="square" rtlCol="0" anchor="ctr"/>
          <a:lstStyle/>
          <a:p>
            <a:pPr marL="0" indent="0">
              <a:buNone/>
            </a:pPr>
            <a:r>
              <a:rPr lang="en-US" sz="1000" dirty="0">
                <a:solidFill>
                  <a:srgbClr val="5C6478"/>
                </a:solidFill>
                <a:latin typeface="Courier New" pitchFamily="34" charset="0"/>
                <a:ea typeface="Courier New" pitchFamily="34" charset="-122"/>
                <a:cs typeface="Courier New" pitchFamily="34" charset="-120"/>
              </a:rPr>
              <a:t>02</a:t>
            </a:r>
            <a:endParaRPr lang="en-US" sz="1000" dirty="0"/>
          </a:p>
        </p:txBody>
      </p:sp>
      <p:sp>
        <p:nvSpPr>
          <p:cNvPr id="15" name="Text 11"/>
          <p:cNvSpPr/>
          <p:nvPr/>
        </p:nvSpPr>
        <p:spPr>
          <a:xfrm>
            <a:off x="2816352" y="3794760"/>
            <a:ext cx="1691640" cy="5943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POST /api/predict</a:t>
            </a:r>
            <a:endParaRPr lang="en-US" sz="1200" dirty="0"/>
          </a:p>
        </p:txBody>
      </p:sp>
      <p:sp>
        <p:nvSpPr>
          <p:cNvPr id="16" name="Text 12"/>
          <p:cNvSpPr/>
          <p:nvPr/>
        </p:nvSpPr>
        <p:spPr>
          <a:xfrm>
            <a:off x="2816352" y="4343400"/>
            <a:ext cx="1691640" cy="685800"/>
          </a:xfrm>
          <a:prstGeom prst="rect">
            <a:avLst/>
          </a:prstGeom>
          <a:noFill/>
          <a:ln/>
        </p:spPr>
        <p:txBody>
          <a:bodyPr wrap="square" rtlCol="0" anchor="ctr"/>
          <a:lstStyle/>
          <a:p>
            <a:pPr marL="0" indent="0" algn="ctr">
              <a:buNone/>
            </a:pPr>
            <a:r>
              <a:rPr lang="en-US" sz="1000" dirty="0">
                <a:solidFill>
                  <a:srgbClr val="8B93A7"/>
                </a:solidFill>
                <a:latin typeface="Calibri" pitchFamily="34" charset="0"/>
                <a:ea typeface="Calibri" pitchFamily="34" charset="-122"/>
                <a:cs typeface="Calibri" pitchFamily="34" charset="-120"/>
              </a:rPr>
              <a:t>fetch() sends form data to Flask.</a:t>
            </a:r>
            <a:endParaRPr lang="en-US" sz="1000" dirty="0"/>
          </a:p>
        </p:txBody>
      </p:sp>
      <p:sp>
        <p:nvSpPr>
          <p:cNvPr id="17" name="Shape 13"/>
          <p:cNvSpPr/>
          <p:nvPr/>
        </p:nvSpPr>
        <p:spPr>
          <a:xfrm>
            <a:off x="4663440" y="3840480"/>
            <a:ext cx="146304" cy="182880"/>
          </a:xfrm>
          <a:prstGeom prst="rightArrow">
            <a:avLst/>
          </a:prstGeom>
          <a:solidFill>
            <a:srgbClr val="5C6478"/>
          </a:solidFill>
          <a:ln/>
        </p:spPr>
      </p:sp>
      <p:sp>
        <p:nvSpPr>
          <p:cNvPr id="18" name="Shape 14"/>
          <p:cNvSpPr/>
          <p:nvPr/>
        </p:nvSpPr>
        <p:spPr>
          <a:xfrm>
            <a:off x="4809744" y="2743200"/>
            <a:ext cx="1965960" cy="2377440"/>
          </a:xfrm>
          <a:prstGeom prst="roundRect">
            <a:avLst>
              <a:gd name="adj" fmla="val 3721"/>
            </a:avLst>
          </a:prstGeom>
          <a:solidFill>
            <a:srgbClr val="10182B"/>
          </a:solidFill>
          <a:ln w="12700">
            <a:solidFill>
              <a:srgbClr val="1E293B"/>
            </a:solidFill>
            <a:prstDash val="solid"/>
          </a:ln>
        </p:spPr>
      </p:sp>
      <p:sp>
        <p:nvSpPr>
          <p:cNvPr id="19" name="Shape 15"/>
          <p:cNvSpPr/>
          <p:nvPr/>
        </p:nvSpPr>
        <p:spPr>
          <a:xfrm>
            <a:off x="5472684" y="3017520"/>
            <a:ext cx="640080" cy="640080"/>
          </a:xfrm>
          <a:prstGeom prst="ellipse">
            <a:avLst/>
          </a:prstGeom>
          <a:solidFill>
            <a:srgbClr val="12233F"/>
          </a:solidFill>
          <a:ln/>
        </p:spPr>
      </p:sp>
      <p:pic>
        <p:nvPicPr>
          <p:cNvPr id="20" name="Image 2" descr="/home/claude/ppt_assets/icons/activity.png"/>
          <p:cNvPicPr>
            <a:picLocks noChangeAspect="1"/>
          </p:cNvPicPr>
          <p:nvPr/>
        </p:nvPicPr>
        <p:blipFill>
          <a:blip r:embed="rId5"/>
          <a:stretch>
            <a:fillRect/>
          </a:stretch>
        </p:blipFill>
        <p:spPr>
          <a:xfrm>
            <a:off x="5626303" y="3171139"/>
            <a:ext cx="332842" cy="332842"/>
          </a:xfrm>
          <a:prstGeom prst="rect">
            <a:avLst/>
          </a:prstGeom>
        </p:spPr>
      </p:pic>
      <p:sp>
        <p:nvSpPr>
          <p:cNvPr id="21" name="Text 16"/>
          <p:cNvSpPr/>
          <p:nvPr/>
        </p:nvSpPr>
        <p:spPr>
          <a:xfrm>
            <a:off x="4946904" y="2788920"/>
            <a:ext cx="548640" cy="274320"/>
          </a:xfrm>
          <a:prstGeom prst="rect">
            <a:avLst/>
          </a:prstGeom>
          <a:noFill/>
          <a:ln/>
        </p:spPr>
        <p:txBody>
          <a:bodyPr wrap="square" rtlCol="0" anchor="ctr"/>
          <a:lstStyle/>
          <a:p>
            <a:pPr marL="0" indent="0">
              <a:buNone/>
            </a:pPr>
            <a:r>
              <a:rPr lang="en-US" sz="1000" dirty="0">
                <a:solidFill>
                  <a:srgbClr val="5C6478"/>
                </a:solidFill>
                <a:latin typeface="Courier New" pitchFamily="34" charset="0"/>
                <a:ea typeface="Courier New" pitchFamily="34" charset="-122"/>
                <a:cs typeface="Courier New" pitchFamily="34" charset="-120"/>
              </a:rPr>
              <a:t>03</a:t>
            </a:r>
            <a:endParaRPr lang="en-US" sz="1000" dirty="0"/>
          </a:p>
        </p:txBody>
      </p:sp>
      <p:sp>
        <p:nvSpPr>
          <p:cNvPr id="22" name="Text 17"/>
          <p:cNvSpPr/>
          <p:nvPr/>
        </p:nvSpPr>
        <p:spPr>
          <a:xfrm>
            <a:off x="4946904" y="3794760"/>
            <a:ext cx="1691640" cy="5943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Model Inference</a:t>
            </a:r>
            <a:endParaRPr lang="en-US" sz="1200" dirty="0"/>
          </a:p>
        </p:txBody>
      </p:sp>
      <p:sp>
        <p:nvSpPr>
          <p:cNvPr id="23" name="Text 18"/>
          <p:cNvSpPr/>
          <p:nvPr/>
        </p:nvSpPr>
        <p:spPr>
          <a:xfrm>
            <a:off x="4946904" y="4343400"/>
            <a:ext cx="1691640" cy="685800"/>
          </a:xfrm>
          <a:prstGeom prst="rect">
            <a:avLst/>
          </a:prstGeom>
          <a:noFill/>
          <a:ln/>
        </p:spPr>
        <p:txBody>
          <a:bodyPr wrap="square" rtlCol="0" anchor="ctr"/>
          <a:lstStyle/>
          <a:p>
            <a:pPr marL="0" indent="0" algn="ctr">
              <a:buNone/>
            </a:pPr>
            <a:r>
              <a:rPr lang="en-US" sz="1000" dirty="0">
                <a:solidFill>
                  <a:srgbClr val="8B93A7"/>
                </a:solidFill>
                <a:latin typeface="Calibri" pitchFamily="34" charset="0"/>
                <a:ea typeface="Calibri" pitchFamily="34" charset="-122"/>
                <a:cs typeface="Calibri" pitchFamily="34" charset="-120"/>
              </a:rPr>
              <a:t>Encode → predict → risk → actions.</a:t>
            </a:r>
            <a:endParaRPr lang="en-US" sz="1000" dirty="0"/>
          </a:p>
        </p:txBody>
      </p:sp>
      <p:sp>
        <p:nvSpPr>
          <p:cNvPr id="24" name="Shape 19"/>
          <p:cNvSpPr/>
          <p:nvPr/>
        </p:nvSpPr>
        <p:spPr>
          <a:xfrm>
            <a:off x="6793992" y="3840480"/>
            <a:ext cx="146304" cy="182880"/>
          </a:xfrm>
          <a:prstGeom prst="rightArrow">
            <a:avLst/>
          </a:prstGeom>
          <a:solidFill>
            <a:srgbClr val="5C6478"/>
          </a:solidFill>
          <a:ln/>
        </p:spPr>
      </p:sp>
      <p:sp>
        <p:nvSpPr>
          <p:cNvPr id="25" name="Shape 20"/>
          <p:cNvSpPr/>
          <p:nvPr/>
        </p:nvSpPr>
        <p:spPr>
          <a:xfrm>
            <a:off x="6940296" y="2743200"/>
            <a:ext cx="1965960" cy="2377440"/>
          </a:xfrm>
          <a:prstGeom prst="roundRect">
            <a:avLst>
              <a:gd name="adj" fmla="val 3721"/>
            </a:avLst>
          </a:prstGeom>
          <a:solidFill>
            <a:srgbClr val="10182B"/>
          </a:solidFill>
          <a:ln w="12700">
            <a:solidFill>
              <a:srgbClr val="1E293B"/>
            </a:solidFill>
            <a:prstDash val="solid"/>
          </a:ln>
        </p:spPr>
      </p:sp>
      <p:sp>
        <p:nvSpPr>
          <p:cNvPr id="26" name="Shape 21"/>
          <p:cNvSpPr/>
          <p:nvPr/>
        </p:nvSpPr>
        <p:spPr>
          <a:xfrm>
            <a:off x="7603236" y="3017520"/>
            <a:ext cx="640080" cy="640080"/>
          </a:xfrm>
          <a:prstGeom prst="ellipse">
            <a:avLst/>
          </a:prstGeom>
          <a:solidFill>
            <a:srgbClr val="12233F"/>
          </a:solidFill>
          <a:ln/>
        </p:spPr>
      </p:sp>
      <p:pic>
        <p:nvPicPr>
          <p:cNvPr id="27" name="Image 3" descr="/home/claude/ppt_assets/icons/database.png"/>
          <p:cNvPicPr>
            <a:picLocks noChangeAspect="1"/>
          </p:cNvPicPr>
          <p:nvPr/>
        </p:nvPicPr>
        <p:blipFill>
          <a:blip r:embed="rId6"/>
          <a:stretch>
            <a:fillRect/>
          </a:stretch>
        </p:blipFill>
        <p:spPr>
          <a:xfrm>
            <a:off x="7756855" y="3171139"/>
            <a:ext cx="332842" cy="332842"/>
          </a:xfrm>
          <a:prstGeom prst="rect">
            <a:avLst/>
          </a:prstGeom>
        </p:spPr>
      </p:pic>
      <p:sp>
        <p:nvSpPr>
          <p:cNvPr id="28" name="Text 22"/>
          <p:cNvSpPr/>
          <p:nvPr/>
        </p:nvSpPr>
        <p:spPr>
          <a:xfrm>
            <a:off x="7077456" y="2788920"/>
            <a:ext cx="548640" cy="274320"/>
          </a:xfrm>
          <a:prstGeom prst="rect">
            <a:avLst/>
          </a:prstGeom>
          <a:noFill/>
          <a:ln/>
        </p:spPr>
        <p:txBody>
          <a:bodyPr wrap="square" rtlCol="0" anchor="ctr"/>
          <a:lstStyle/>
          <a:p>
            <a:pPr marL="0" indent="0">
              <a:buNone/>
            </a:pPr>
            <a:r>
              <a:rPr lang="en-US" sz="1000" dirty="0">
                <a:solidFill>
                  <a:srgbClr val="5C6478"/>
                </a:solidFill>
                <a:latin typeface="Courier New" pitchFamily="34" charset="0"/>
                <a:ea typeface="Courier New" pitchFamily="34" charset="-122"/>
                <a:cs typeface="Courier New" pitchFamily="34" charset="-120"/>
              </a:rPr>
              <a:t>04</a:t>
            </a:r>
            <a:endParaRPr lang="en-US" sz="1000" dirty="0"/>
          </a:p>
        </p:txBody>
      </p:sp>
      <p:sp>
        <p:nvSpPr>
          <p:cNvPr id="29" name="Text 23"/>
          <p:cNvSpPr/>
          <p:nvPr/>
        </p:nvSpPr>
        <p:spPr>
          <a:xfrm>
            <a:off x="7077456" y="3794760"/>
            <a:ext cx="1691640" cy="5943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Save to localStorage</a:t>
            </a:r>
            <a:endParaRPr lang="en-US" sz="1200" dirty="0"/>
          </a:p>
        </p:txBody>
      </p:sp>
      <p:sp>
        <p:nvSpPr>
          <p:cNvPr id="30" name="Text 24"/>
          <p:cNvSpPr/>
          <p:nvPr/>
        </p:nvSpPr>
        <p:spPr>
          <a:xfrm>
            <a:off x="7077456" y="4343400"/>
            <a:ext cx="1691640" cy="685800"/>
          </a:xfrm>
          <a:prstGeom prst="rect">
            <a:avLst/>
          </a:prstGeom>
          <a:noFill/>
          <a:ln/>
        </p:spPr>
        <p:txBody>
          <a:bodyPr wrap="square" rtlCol="0" anchor="ctr"/>
          <a:lstStyle/>
          <a:p>
            <a:pPr marL="0" indent="0" algn="ctr">
              <a:buNone/>
            </a:pPr>
            <a:r>
              <a:rPr lang="en-US" sz="1000" dirty="0">
                <a:solidFill>
                  <a:srgbClr val="8B93A7"/>
                </a:solidFill>
                <a:latin typeface="Calibri" pitchFamily="34" charset="0"/>
                <a:ea typeface="Calibri" pitchFamily="34" charset="-122"/>
                <a:cs typeface="Calibri" pitchFamily="34" charset="-120"/>
              </a:rPr>
              <a:t>Result stored in the browser.</a:t>
            </a:r>
            <a:endParaRPr lang="en-US" sz="1000" dirty="0"/>
          </a:p>
        </p:txBody>
      </p:sp>
      <p:sp>
        <p:nvSpPr>
          <p:cNvPr id="31" name="Shape 25"/>
          <p:cNvSpPr/>
          <p:nvPr/>
        </p:nvSpPr>
        <p:spPr>
          <a:xfrm>
            <a:off x="8924544" y="3840480"/>
            <a:ext cx="146304" cy="182880"/>
          </a:xfrm>
          <a:prstGeom prst="rightArrow">
            <a:avLst/>
          </a:prstGeom>
          <a:solidFill>
            <a:srgbClr val="5C6478"/>
          </a:solidFill>
          <a:ln/>
        </p:spPr>
      </p:sp>
      <p:sp>
        <p:nvSpPr>
          <p:cNvPr id="32" name="Shape 26"/>
          <p:cNvSpPr/>
          <p:nvPr/>
        </p:nvSpPr>
        <p:spPr>
          <a:xfrm>
            <a:off x="9070848" y="2743200"/>
            <a:ext cx="1965960" cy="2377440"/>
          </a:xfrm>
          <a:prstGeom prst="roundRect">
            <a:avLst>
              <a:gd name="adj" fmla="val 3721"/>
            </a:avLst>
          </a:prstGeom>
          <a:solidFill>
            <a:srgbClr val="10182B"/>
          </a:solidFill>
          <a:ln w="12700">
            <a:solidFill>
              <a:srgbClr val="1E293B"/>
            </a:solidFill>
            <a:prstDash val="solid"/>
          </a:ln>
        </p:spPr>
      </p:sp>
      <p:sp>
        <p:nvSpPr>
          <p:cNvPr id="33" name="Shape 27"/>
          <p:cNvSpPr/>
          <p:nvPr/>
        </p:nvSpPr>
        <p:spPr>
          <a:xfrm>
            <a:off x="9733788" y="3017520"/>
            <a:ext cx="640080" cy="640080"/>
          </a:xfrm>
          <a:prstGeom prst="ellipse">
            <a:avLst/>
          </a:prstGeom>
          <a:solidFill>
            <a:srgbClr val="12233F"/>
          </a:solidFill>
          <a:ln/>
        </p:spPr>
      </p:sp>
      <p:pic>
        <p:nvPicPr>
          <p:cNvPr id="34" name="Image 4" descr="/home/claude/ppt_assets/icons/eye.png"/>
          <p:cNvPicPr>
            <a:picLocks noChangeAspect="1"/>
          </p:cNvPicPr>
          <p:nvPr/>
        </p:nvPicPr>
        <p:blipFill>
          <a:blip r:embed="rId7"/>
          <a:stretch>
            <a:fillRect/>
          </a:stretch>
        </p:blipFill>
        <p:spPr>
          <a:xfrm>
            <a:off x="9887407" y="3171139"/>
            <a:ext cx="332842" cy="332842"/>
          </a:xfrm>
          <a:prstGeom prst="rect">
            <a:avLst/>
          </a:prstGeom>
        </p:spPr>
      </p:pic>
      <p:sp>
        <p:nvSpPr>
          <p:cNvPr id="35" name="Text 28"/>
          <p:cNvSpPr/>
          <p:nvPr/>
        </p:nvSpPr>
        <p:spPr>
          <a:xfrm>
            <a:off x="9208008" y="2788920"/>
            <a:ext cx="548640" cy="274320"/>
          </a:xfrm>
          <a:prstGeom prst="rect">
            <a:avLst/>
          </a:prstGeom>
          <a:noFill/>
          <a:ln/>
        </p:spPr>
        <p:txBody>
          <a:bodyPr wrap="square" rtlCol="0" anchor="ctr"/>
          <a:lstStyle/>
          <a:p>
            <a:pPr marL="0" indent="0">
              <a:buNone/>
            </a:pPr>
            <a:r>
              <a:rPr lang="en-US" sz="1000" dirty="0">
                <a:solidFill>
                  <a:srgbClr val="5C6478"/>
                </a:solidFill>
                <a:latin typeface="Courier New" pitchFamily="34" charset="0"/>
                <a:ea typeface="Courier New" pitchFamily="34" charset="-122"/>
                <a:cs typeface="Courier New" pitchFamily="34" charset="-120"/>
              </a:rPr>
              <a:t>05</a:t>
            </a:r>
            <a:endParaRPr lang="en-US" sz="1000" dirty="0"/>
          </a:p>
        </p:txBody>
      </p:sp>
      <p:sp>
        <p:nvSpPr>
          <p:cNvPr id="36" name="Text 29"/>
          <p:cNvSpPr/>
          <p:nvPr/>
        </p:nvSpPr>
        <p:spPr>
          <a:xfrm>
            <a:off x="9208008" y="3794760"/>
            <a:ext cx="1691640" cy="5943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View Case Report</a:t>
            </a:r>
            <a:endParaRPr lang="en-US" sz="1200" dirty="0"/>
          </a:p>
        </p:txBody>
      </p:sp>
      <p:sp>
        <p:nvSpPr>
          <p:cNvPr id="37" name="Text 30"/>
          <p:cNvSpPr/>
          <p:nvPr/>
        </p:nvSpPr>
        <p:spPr>
          <a:xfrm>
            <a:off x="9208008" y="4343400"/>
            <a:ext cx="1691640" cy="685800"/>
          </a:xfrm>
          <a:prstGeom prst="rect">
            <a:avLst/>
          </a:prstGeom>
          <a:noFill/>
          <a:ln/>
        </p:spPr>
        <p:txBody>
          <a:bodyPr wrap="square" rtlCol="0" anchor="ctr"/>
          <a:lstStyle/>
          <a:p>
            <a:pPr marL="0" indent="0" algn="ctr">
              <a:buNone/>
            </a:pPr>
            <a:r>
              <a:rPr lang="en-US" sz="1000" dirty="0">
                <a:solidFill>
                  <a:srgbClr val="8B93A7"/>
                </a:solidFill>
                <a:latin typeface="Calibri" pitchFamily="34" charset="0"/>
                <a:ea typeface="Calibri" pitchFamily="34" charset="-122"/>
                <a:cs typeface="Calibri" pitchFamily="34" charset="-120"/>
              </a:rPr>
              <a:t>Redirected to the full dashboard.</a:t>
            </a:r>
            <a:endParaRPr lang="en-US" sz="1000" dirty="0"/>
          </a:p>
        </p:txBody>
      </p:sp>
      <p:sp>
        <p:nvSpPr>
          <p:cNvPr id="38" name="Text 31"/>
          <p:cNvSpPr/>
          <p:nvPr/>
        </p:nvSpPr>
        <p:spPr>
          <a:xfrm>
            <a:off x="548640" y="5486400"/>
            <a:ext cx="10607040" cy="548640"/>
          </a:xfrm>
          <a:prstGeom prst="rect">
            <a:avLst/>
          </a:prstGeom>
          <a:noFill/>
          <a:ln/>
        </p:spPr>
        <p:txBody>
          <a:bodyPr wrap="square" rtlCol="0" anchor="ctr"/>
          <a:lstStyle/>
          <a:p>
            <a:pPr marL="0" indent="0">
              <a:buNone/>
            </a:pPr>
            <a:r>
              <a:rPr lang="en-US" sz="1200" i="1" dirty="0">
                <a:solidFill>
                  <a:srgbClr val="8B93A7"/>
                </a:solidFill>
                <a:latin typeface="Calibri" pitchFamily="34" charset="0"/>
                <a:ea typeface="Calibri" pitchFamily="34" charset="-122"/>
                <a:cs typeface="Calibri" pitchFamily="34" charset="-120"/>
              </a:rPr>
              <a:t>Every prediction is fully traceable: each number on the report comes from either the model's own output or a documented rule — nothing is a placeholder.</a:t>
            </a:r>
            <a:endParaRPr lang="en-US" sz="1200" dirty="0"/>
          </a:p>
        </p:txBody>
      </p:sp>
      <p:sp>
        <p:nvSpPr>
          <p:cNvPr id="39" name="Text 32"/>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40" name="Text 33"/>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FEATURE WALKTHROUGH</a:t>
            </a:r>
            <a:endParaRPr lang="en-US" sz="1200" dirty="0"/>
          </a:p>
        </p:txBody>
      </p:sp>
      <p:sp>
        <p:nvSpPr>
          <p:cNvPr id="3" name="Text 1"/>
          <p:cNvSpPr/>
          <p:nvPr/>
        </p:nvSpPr>
        <p:spPr>
          <a:xfrm>
            <a:off x="548640" y="713232"/>
            <a:ext cx="5029200" cy="118872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Home — Incident Report Form</a:t>
            </a:r>
            <a:endParaRPr lang="en-US" sz="2700" dirty="0"/>
          </a:p>
        </p:txBody>
      </p:sp>
      <p:sp>
        <p:nvSpPr>
          <p:cNvPr id="4" name="Shape 2"/>
          <p:cNvSpPr/>
          <p:nvPr/>
        </p:nvSpPr>
        <p:spPr>
          <a:xfrm>
            <a:off x="548640" y="2148840"/>
            <a:ext cx="457200" cy="457200"/>
          </a:xfrm>
          <a:prstGeom prst="ellipse">
            <a:avLst/>
          </a:prstGeom>
          <a:solidFill>
            <a:srgbClr val="12233F"/>
          </a:solidFill>
          <a:ln/>
        </p:spPr>
      </p:sp>
      <p:pic>
        <p:nvPicPr>
          <p:cNvPr id="5" name="Image 0" descr="/home/claude/ppt_assets/icons/checkcircle.png"/>
          <p:cNvPicPr>
            <a:picLocks noChangeAspect="1"/>
          </p:cNvPicPr>
          <p:nvPr/>
        </p:nvPicPr>
        <p:blipFill>
          <a:blip r:embed="rId3"/>
          <a:stretch>
            <a:fillRect/>
          </a:stretch>
        </p:blipFill>
        <p:spPr>
          <a:xfrm>
            <a:off x="651510" y="2251710"/>
            <a:ext cx="251460" cy="251460"/>
          </a:xfrm>
          <a:prstGeom prst="rect">
            <a:avLst/>
          </a:prstGeom>
        </p:spPr>
      </p:pic>
      <p:sp>
        <p:nvSpPr>
          <p:cNvPr id="6" name="Text 3"/>
          <p:cNvSpPr/>
          <p:nvPr/>
        </p:nvSpPr>
        <p:spPr>
          <a:xfrm>
            <a:off x="1143000" y="1997964"/>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Case data organised into three sections: Location, Evidence &amp; Environment, Suspect Profile.</a:t>
            </a:r>
            <a:endParaRPr lang="en-US" sz="1200" dirty="0"/>
          </a:p>
        </p:txBody>
      </p:sp>
      <p:sp>
        <p:nvSpPr>
          <p:cNvPr id="7" name="Shape 4"/>
          <p:cNvSpPr/>
          <p:nvPr/>
        </p:nvSpPr>
        <p:spPr>
          <a:xfrm>
            <a:off x="548640" y="3108960"/>
            <a:ext cx="457200" cy="457200"/>
          </a:xfrm>
          <a:prstGeom prst="ellipse">
            <a:avLst/>
          </a:prstGeom>
          <a:solidFill>
            <a:srgbClr val="12233F"/>
          </a:solidFill>
          <a:ln/>
        </p:spPr>
      </p:sp>
      <p:pic>
        <p:nvPicPr>
          <p:cNvPr id="8" name="Image 1" descr="/home/claude/ppt_assets/icons/checkcircle.png"/>
          <p:cNvPicPr>
            <a:picLocks noChangeAspect="1"/>
          </p:cNvPicPr>
          <p:nvPr/>
        </p:nvPicPr>
        <p:blipFill>
          <a:blip r:embed="rId3"/>
          <a:stretch>
            <a:fillRect/>
          </a:stretch>
        </p:blipFill>
        <p:spPr>
          <a:xfrm>
            <a:off x="651510" y="3211830"/>
            <a:ext cx="251460" cy="251460"/>
          </a:xfrm>
          <a:prstGeom prst="rect">
            <a:avLst/>
          </a:prstGeom>
        </p:spPr>
      </p:pic>
      <p:sp>
        <p:nvSpPr>
          <p:cNvPr id="9" name="Text 5"/>
          <p:cNvSpPr/>
          <p:nvPr/>
        </p:nvSpPr>
        <p:spPr>
          <a:xfrm>
            <a:off x="1143000" y="2937463"/>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All 9 model features shown directly — nothing hidden, nothing defaulted.</a:t>
            </a:r>
            <a:endParaRPr lang="en-US" sz="1200" dirty="0"/>
          </a:p>
        </p:txBody>
      </p:sp>
      <p:sp>
        <p:nvSpPr>
          <p:cNvPr id="10" name="Shape 6"/>
          <p:cNvSpPr/>
          <p:nvPr/>
        </p:nvSpPr>
        <p:spPr>
          <a:xfrm>
            <a:off x="548640" y="4069080"/>
            <a:ext cx="457200" cy="457200"/>
          </a:xfrm>
          <a:prstGeom prst="ellipse">
            <a:avLst/>
          </a:prstGeom>
          <a:solidFill>
            <a:srgbClr val="12233F"/>
          </a:solidFill>
          <a:ln/>
        </p:spPr>
      </p:sp>
      <p:pic>
        <p:nvPicPr>
          <p:cNvPr id="11" name="Image 2" descr="/home/claude/ppt_assets/icons/checkcircle.png"/>
          <p:cNvPicPr>
            <a:picLocks noChangeAspect="1"/>
          </p:cNvPicPr>
          <p:nvPr/>
        </p:nvPicPr>
        <p:blipFill>
          <a:blip r:embed="rId3"/>
          <a:stretch>
            <a:fillRect/>
          </a:stretch>
        </p:blipFill>
        <p:spPr>
          <a:xfrm>
            <a:off x="651510" y="4171950"/>
            <a:ext cx="251460" cy="251460"/>
          </a:xfrm>
          <a:prstGeom prst="rect">
            <a:avLst/>
          </a:prstGeom>
        </p:spPr>
      </p:pic>
      <p:sp>
        <p:nvSpPr>
          <p:cNvPr id="12" name="Text 7"/>
          <p:cNvSpPr/>
          <p:nvPr/>
        </p:nvSpPr>
        <p:spPr>
          <a:xfrm>
            <a:off x="1143000" y="3944096"/>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Dark “dispatch terminal” design system used across the whole app.</a:t>
            </a:r>
            <a:endParaRPr lang="en-US" sz="1200" dirty="0"/>
          </a:p>
        </p:txBody>
      </p:sp>
      <p:sp>
        <p:nvSpPr>
          <p:cNvPr id="13" name="Shape 8"/>
          <p:cNvSpPr/>
          <p:nvPr/>
        </p:nvSpPr>
        <p:spPr>
          <a:xfrm>
            <a:off x="5577840" y="1120140"/>
            <a:ext cx="6217920" cy="4892040"/>
          </a:xfrm>
          <a:prstGeom prst="roundRect">
            <a:avLst>
              <a:gd name="adj" fmla="val 1495"/>
            </a:avLst>
          </a:prstGeom>
          <a:solidFill>
            <a:srgbClr val="0C1220"/>
          </a:solidFill>
          <a:ln w="12700">
            <a:solidFill>
              <a:srgbClr val="1E293B"/>
            </a:solidFill>
            <a:prstDash val="solid"/>
          </a:ln>
        </p:spPr>
      </p:sp>
      <p:pic>
        <p:nvPicPr>
          <p:cNvPr id="14" name="Image 3" descr="/home/claude/shots/home_top.png"/>
          <p:cNvPicPr>
            <a:picLocks noChangeAspect="1"/>
          </p:cNvPicPr>
          <p:nvPr/>
        </p:nvPicPr>
        <p:blipFill>
          <a:blip r:embed="rId4"/>
          <a:srcRect/>
          <a:stretch/>
        </p:blipFill>
        <p:spPr>
          <a:xfrm>
            <a:off x="5715000" y="1257300"/>
            <a:ext cx="5943600" cy="4617720"/>
          </a:xfrm>
          <a:prstGeom prst="rect">
            <a:avLst/>
          </a:prstGeom>
        </p:spPr>
      </p:pic>
      <p:sp>
        <p:nvSpPr>
          <p:cNvPr id="15" name="Text 9"/>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16" name="Text 10"/>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FEATURE WALKTHROUGH</a:t>
            </a:r>
            <a:endParaRPr lang="en-US" sz="1200" dirty="0"/>
          </a:p>
        </p:txBody>
      </p:sp>
      <p:sp>
        <p:nvSpPr>
          <p:cNvPr id="3" name="Text 1"/>
          <p:cNvSpPr/>
          <p:nvPr/>
        </p:nvSpPr>
        <p:spPr>
          <a:xfrm>
            <a:off x="548640" y="713232"/>
            <a:ext cx="5029200" cy="118872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Case Report — AI Verdict</a:t>
            </a:r>
            <a:endParaRPr lang="en-US" sz="2700" dirty="0"/>
          </a:p>
        </p:txBody>
      </p:sp>
      <p:sp>
        <p:nvSpPr>
          <p:cNvPr id="4" name="Shape 2"/>
          <p:cNvSpPr/>
          <p:nvPr/>
        </p:nvSpPr>
        <p:spPr>
          <a:xfrm>
            <a:off x="548640" y="2148840"/>
            <a:ext cx="457200" cy="457200"/>
          </a:xfrm>
          <a:prstGeom prst="ellipse">
            <a:avLst/>
          </a:prstGeom>
          <a:solidFill>
            <a:srgbClr val="12233F"/>
          </a:solidFill>
          <a:ln/>
        </p:spPr>
      </p:sp>
      <p:pic>
        <p:nvPicPr>
          <p:cNvPr id="5" name="Image 0" descr="/home/claude/ppt_assets/icons/checkcircle.png"/>
          <p:cNvPicPr>
            <a:picLocks noChangeAspect="1"/>
          </p:cNvPicPr>
          <p:nvPr/>
        </p:nvPicPr>
        <p:blipFill>
          <a:blip r:embed="rId3"/>
          <a:stretch>
            <a:fillRect/>
          </a:stretch>
        </p:blipFill>
        <p:spPr>
          <a:xfrm>
            <a:off x="651510" y="2251710"/>
            <a:ext cx="251460" cy="251460"/>
          </a:xfrm>
          <a:prstGeom prst="rect">
            <a:avLst/>
          </a:prstGeom>
        </p:spPr>
      </p:pic>
      <p:sp>
        <p:nvSpPr>
          <p:cNvPr id="6" name="Text 3"/>
          <p:cNvSpPr/>
          <p:nvPr/>
        </p:nvSpPr>
        <p:spPr>
          <a:xfrm>
            <a:off x="1102995" y="2020824"/>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Animated probability ring shows resolution likelihood at a glance.</a:t>
            </a:r>
            <a:endParaRPr lang="en-US" sz="1200" dirty="0"/>
          </a:p>
        </p:txBody>
      </p:sp>
      <p:sp>
        <p:nvSpPr>
          <p:cNvPr id="7" name="Shape 4"/>
          <p:cNvSpPr/>
          <p:nvPr/>
        </p:nvSpPr>
        <p:spPr>
          <a:xfrm>
            <a:off x="548640" y="3108960"/>
            <a:ext cx="457200" cy="457200"/>
          </a:xfrm>
          <a:prstGeom prst="ellipse">
            <a:avLst/>
          </a:prstGeom>
          <a:solidFill>
            <a:srgbClr val="12233F"/>
          </a:solidFill>
          <a:ln/>
        </p:spPr>
      </p:sp>
      <p:pic>
        <p:nvPicPr>
          <p:cNvPr id="8" name="Image 1" descr="/home/claude/ppt_assets/icons/checkcircle.png"/>
          <p:cNvPicPr>
            <a:picLocks noChangeAspect="1"/>
          </p:cNvPicPr>
          <p:nvPr/>
        </p:nvPicPr>
        <p:blipFill>
          <a:blip r:embed="rId3"/>
          <a:stretch>
            <a:fillRect/>
          </a:stretch>
        </p:blipFill>
        <p:spPr>
          <a:xfrm>
            <a:off x="651510" y="3211830"/>
            <a:ext cx="251460" cy="251460"/>
          </a:xfrm>
          <a:prstGeom prst="rect">
            <a:avLst/>
          </a:prstGeom>
        </p:spPr>
      </p:pic>
      <p:sp>
        <p:nvSpPr>
          <p:cNvPr id="9" name="Text 5"/>
          <p:cNvSpPr/>
          <p:nvPr/>
        </p:nvSpPr>
        <p:spPr>
          <a:xfrm>
            <a:off x="1108710" y="2983417"/>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Risk badge, officer recommendation, and per-case signal contribution chart.</a:t>
            </a:r>
            <a:endParaRPr lang="en-US" sz="1200" dirty="0"/>
          </a:p>
        </p:txBody>
      </p:sp>
      <p:sp>
        <p:nvSpPr>
          <p:cNvPr id="10" name="Shape 6"/>
          <p:cNvSpPr/>
          <p:nvPr/>
        </p:nvSpPr>
        <p:spPr>
          <a:xfrm>
            <a:off x="548640" y="4069080"/>
            <a:ext cx="457200" cy="457200"/>
          </a:xfrm>
          <a:prstGeom prst="ellipse">
            <a:avLst/>
          </a:prstGeom>
          <a:solidFill>
            <a:srgbClr val="12233F"/>
          </a:solidFill>
          <a:ln/>
        </p:spPr>
      </p:sp>
      <p:pic>
        <p:nvPicPr>
          <p:cNvPr id="11" name="Image 2" descr="/home/claude/ppt_assets/icons/checkcircle.png"/>
          <p:cNvPicPr>
            <a:picLocks noChangeAspect="1"/>
          </p:cNvPicPr>
          <p:nvPr/>
        </p:nvPicPr>
        <p:blipFill>
          <a:blip r:embed="rId3"/>
          <a:stretch>
            <a:fillRect/>
          </a:stretch>
        </p:blipFill>
        <p:spPr>
          <a:xfrm>
            <a:off x="651510" y="4171950"/>
            <a:ext cx="251460" cy="251460"/>
          </a:xfrm>
          <a:prstGeom prst="rect">
            <a:avLst/>
          </a:prstGeom>
        </p:spPr>
      </p:pic>
      <p:sp>
        <p:nvSpPr>
          <p:cNvPr id="12" name="Text 7"/>
          <p:cNvSpPr/>
          <p:nvPr/>
        </p:nvSpPr>
        <p:spPr>
          <a:xfrm>
            <a:off x="1097280" y="3946010"/>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Numbered action plan + a live-style prediction log, plus a printable Case Ticket.</a:t>
            </a:r>
            <a:endParaRPr lang="en-US" sz="1200" dirty="0"/>
          </a:p>
        </p:txBody>
      </p:sp>
      <p:sp>
        <p:nvSpPr>
          <p:cNvPr id="13" name="Shape 8"/>
          <p:cNvSpPr/>
          <p:nvPr/>
        </p:nvSpPr>
        <p:spPr>
          <a:xfrm>
            <a:off x="5680710" y="1106424"/>
            <a:ext cx="6217920" cy="4892040"/>
          </a:xfrm>
          <a:prstGeom prst="roundRect">
            <a:avLst>
              <a:gd name="adj" fmla="val 1495"/>
            </a:avLst>
          </a:prstGeom>
          <a:solidFill>
            <a:srgbClr val="0C1220"/>
          </a:solidFill>
          <a:ln w="12700">
            <a:solidFill>
              <a:srgbClr val="1E293B"/>
            </a:solidFill>
            <a:prstDash val="solid"/>
          </a:ln>
        </p:spPr>
      </p:sp>
      <p:pic>
        <p:nvPicPr>
          <p:cNvPr id="14" name="Image 3" descr="/home/claude/shots/case_report_top.png"/>
          <p:cNvPicPr>
            <a:picLocks noChangeAspect="1"/>
          </p:cNvPicPr>
          <p:nvPr/>
        </p:nvPicPr>
        <p:blipFill>
          <a:blip r:embed="rId4"/>
          <a:srcRect/>
          <a:stretch/>
        </p:blipFill>
        <p:spPr>
          <a:xfrm>
            <a:off x="5817870" y="1248156"/>
            <a:ext cx="5943600" cy="4544568"/>
          </a:xfrm>
          <a:prstGeom prst="rect">
            <a:avLst/>
          </a:prstGeom>
        </p:spPr>
      </p:pic>
      <p:sp>
        <p:nvSpPr>
          <p:cNvPr id="15" name="Text 9"/>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16" name="Text 10"/>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FEATURE WALKTHROUGH</a:t>
            </a:r>
            <a:endParaRPr lang="en-US" sz="1200" dirty="0"/>
          </a:p>
        </p:txBody>
      </p:sp>
      <p:sp>
        <p:nvSpPr>
          <p:cNvPr id="3" name="Text 1"/>
          <p:cNvSpPr/>
          <p:nvPr/>
        </p:nvSpPr>
        <p:spPr>
          <a:xfrm>
            <a:off x="548640" y="713232"/>
            <a:ext cx="5029200" cy="118872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Case History — Ledger</a:t>
            </a:r>
            <a:endParaRPr lang="en-US" sz="2700" dirty="0"/>
          </a:p>
        </p:txBody>
      </p:sp>
      <p:sp>
        <p:nvSpPr>
          <p:cNvPr id="4" name="Shape 2"/>
          <p:cNvSpPr/>
          <p:nvPr/>
        </p:nvSpPr>
        <p:spPr>
          <a:xfrm>
            <a:off x="548640" y="2148840"/>
            <a:ext cx="457200" cy="457200"/>
          </a:xfrm>
          <a:prstGeom prst="ellipse">
            <a:avLst/>
          </a:prstGeom>
          <a:solidFill>
            <a:srgbClr val="12233F"/>
          </a:solidFill>
          <a:ln/>
        </p:spPr>
      </p:sp>
      <p:pic>
        <p:nvPicPr>
          <p:cNvPr id="5" name="Image 0" descr="/home/claude/ppt_assets/icons/checkcircle.png"/>
          <p:cNvPicPr>
            <a:picLocks noChangeAspect="1"/>
          </p:cNvPicPr>
          <p:nvPr/>
        </p:nvPicPr>
        <p:blipFill>
          <a:blip r:embed="rId3"/>
          <a:stretch>
            <a:fillRect/>
          </a:stretch>
        </p:blipFill>
        <p:spPr>
          <a:xfrm>
            <a:off x="651510" y="2251710"/>
            <a:ext cx="251460" cy="251460"/>
          </a:xfrm>
          <a:prstGeom prst="rect">
            <a:avLst/>
          </a:prstGeom>
        </p:spPr>
      </p:pic>
      <p:sp>
        <p:nvSpPr>
          <p:cNvPr id="6" name="Text 3"/>
          <p:cNvSpPr/>
          <p:nvPr/>
        </p:nvSpPr>
        <p:spPr>
          <a:xfrm>
            <a:off x="1165860" y="2039112"/>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Every prediction made in this browser is listed with quick View / Delete actions.</a:t>
            </a:r>
            <a:endParaRPr lang="en-US" sz="1200" dirty="0"/>
          </a:p>
        </p:txBody>
      </p:sp>
      <p:sp>
        <p:nvSpPr>
          <p:cNvPr id="7" name="Shape 4"/>
          <p:cNvSpPr/>
          <p:nvPr/>
        </p:nvSpPr>
        <p:spPr>
          <a:xfrm>
            <a:off x="548640" y="3108960"/>
            <a:ext cx="457200" cy="457200"/>
          </a:xfrm>
          <a:prstGeom prst="ellipse">
            <a:avLst/>
          </a:prstGeom>
          <a:solidFill>
            <a:srgbClr val="12233F"/>
          </a:solidFill>
          <a:ln/>
        </p:spPr>
      </p:sp>
      <p:pic>
        <p:nvPicPr>
          <p:cNvPr id="8" name="Image 1" descr="/home/claude/ppt_assets/icons/checkcircle.png"/>
          <p:cNvPicPr>
            <a:picLocks noChangeAspect="1"/>
          </p:cNvPicPr>
          <p:nvPr/>
        </p:nvPicPr>
        <p:blipFill>
          <a:blip r:embed="rId3"/>
          <a:stretch>
            <a:fillRect/>
          </a:stretch>
        </p:blipFill>
        <p:spPr>
          <a:xfrm>
            <a:off x="651510" y="3211830"/>
            <a:ext cx="251460" cy="251460"/>
          </a:xfrm>
          <a:prstGeom prst="rect">
            <a:avLst/>
          </a:prstGeom>
        </p:spPr>
      </p:pic>
      <p:sp>
        <p:nvSpPr>
          <p:cNvPr id="9" name="Text 5"/>
          <p:cNvSpPr/>
          <p:nvPr/>
        </p:nvSpPr>
        <p:spPr>
          <a:xfrm>
            <a:off x="1165860" y="2974832"/>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Stored entirely in localStorage — private to the device, nothing sent to a server.</a:t>
            </a:r>
            <a:endParaRPr lang="en-US" sz="1200" dirty="0"/>
          </a:p>
        </p:txBody>
      </p:sp>
      <p:sp>
        <p:nvSpPr>
          <p:cNvPr id="10" name="Shape 6"/>
          <p:cNvSpPr/>
          <p:nvPr/>
        </p:nvSpPr>
        <p:spPr>
          <a:xfrm>
            <a:off x="548640" y="4069080"/>
            <a:ext cx="457200" cy="457200"/>
          </a:xfrm>
          <a:prstGeom prst="ellipse">
            <a:avLst/>
          </a:prstGeom>
          <a:solidFill>
            <a:srgbClr val="12233F"/>
          </a:solidFill>
          <a:ln/>
        </p:spPr>
      </p:sp>
      <p:pic>
        <p:nvPicPr>
          <p:cNvPr id="11" name="Image 2" descr="/home/claude/ppt_assets/icons/checkcircle.png"/>
          <p:cNvPicPr>
            <a:picLocks noChangeAspect="1"/>
          </p:cNvPicPr>
          <p:nvPr/>
        </p:nvPicPr>
        <p:blipFill>
          <a:blip r:embed="rId3"/>
          <a:stretch>
            <a:fillRect/>
          </a:stretch>
        </p:blipFill>
        <p:spPr>
          <a:xfrm>
            <a:off x="651510" y="4171950"/>
            <a:ext cx="251460" cy="251460"/>
          </a:xfrm>
          <a:prstGeom prst="rect">
            <a:avLst/>
          </a:prstGeom>
        </p:spPr>
      </p:pic>
      <p:sp>
        <p:nvSpPr>
          <p:cNvPr id="12" name="Text 7"/>
          <p:cNvSpPr/>
          <p:nvPr/>
        </p:nvSpPr>
        <p:spPr>
          <a:xfrm>
            <a:off x="1165860" y="4025087"/>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Empty state guides first-time users straight back to the form.</a:t>
            </a:r>
            <a:endParaRPr lang="en-US" sz="1200" dirty="0"/>
          </a:p>
        </p:txBody>
      </p:sp>
      <p:sp>
        <p:nvSpPr>
          <p:cNvPr id="13" name="Shape 8"/>
          <p:cNvSpPr/>
          <p:nvPr/>
        </p:nvSpPr>
        <p:spPr>
          <a:xfrm>
            <a:off x="5646420" y="1033272"/>
            <a:ext cx="6217920" cy="4892040"/>
          </a:xfrm>
          <a:prstGeom prst="roundRect">
            <a:avLst>
              <a:gd name="adj" fmla="val 1495"/>
            </a:avLst>
          </a:prstGeom>
          <a:solidFill>
            <a:srgbClr val="0C1220"/>
          </a:solidFill>
          <a:ln w="12700">
            <a:solidFill>
              <a:srgbClr val="1E293B"/>
            </a:solidFill>
            <a:prstDash val="solid"/>
          </a:ln>
        </p:spPr>
      </p:sp>
      <p:pic>
        <p:nvPicPr>
          <p:cNvPr id="14" name="Image 3" descr="/home/claude/shots/history_top.png"/>
          <p:cNvPicPr>
            <a:picLocks noChangeAspect="1"/>
          </p:cNvPicPr>
          <p:nvPr/>
        </p:nvPicPr>
        <p:blipFill>
          <a:blip r:embed="rId4"/>
          <a:srcRect/>
          <a:stretch/>
        </p:blipFill>
        <p:spPr>
          <a:xfrm>
            <a:off x="5783580" y="1207008"/>
            <a:ext cx="5943600" cy="4617720"/>
          </a:xfrm>
          <a:prstGeom prst="rect">
            <a:avLst/>
          </a:prstGeom>
        </p:spPr>
      </p:pic>
      <p:sp>
        <p:nvSpPr>
          <p:cNvPr id="15" name="Text 9"/>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16" name="Text 10"/>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FEATURE WALKTHROUGH</a:t>
            </a:r>
            <a:endParaRPr lang="en-US" sz="1200" dirty="0"/>
          </a:p>
        </p:txBody>
      </p:sp>
      <p:sp>
        <p:nvSpPr>
          <p:cNvPr id="3" name="Text 1"/>
          <p:cNvSpPr/>
          <p:nvPr/>
        </p:nvSpPr>
        <p:spPr>
          <a:xfrm>
            <a:off x="548640" y="713232"/>
            <a:ext cx="5029200" cy="118872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About — Plain-Language Explainer</a:t>
            </a:r>
            <a:endParaRPr lang="en-US" sz="2700" dirty="0"/>
          </a:p>
        </p:txBody>
      </p:sp>
      <p:sp>
        <p:nvSpPr>
          <p:cNvPr id="4" name="Shape 2"/>
          <p:cNvSpPr/>
          <p:nvPr/>
        </p:nvSpPr>
        <p:spPr>
          <a:xfrm>
            <a:off x="548640" y="2148840"/>
            <a:ext cx="457200" cy="457200"/>
          </a:xfrm>
          <a:prstGeom prst="ellipse">
            <a:avLst/>
          </a:prstGeom>
          <a:solidFill>
            <a:srgbClr val="12233F"/>
          </a:solidFill>
          <a:ln/>
        </p:spPr>
      </p:sp>
      <p:pic>
        <p:nvPicPr>
          <p:cNvPr id="5" name="Image 0" descr="/home/claude/ppt_assets/icons/checkcircle.png"/>
          <p:cNvPicPr>
            <a:picLocks noChangeAspect="1"/>
          </p:cNvPicPr>
          <p:nvPr/>
        </p:nvPicPr>
        <p:blipFill>
          <a:blip r:embed="rId3"/>
          <a:stretch>
            <a:fillRect/>
          </a:stretch>
        </p:blipFill>
        <p:spPr>
          <a:xfrm>
            <a:off x="651510" y="2251710"/>
            <a:ext cx="251460" cy="251460"/>
          </a:xfrm>
          <a:prstGeom prst="rect">
            <a:avLst/>
          </a:prstGeom>
        </p:spPr>
      </p:pic>
      <p:sp>
        <p:nvSpPr>
          <p:cNvPr id="6" name="Text 3"/>
          <p:cNvSpPr/>
          <p:nvPr/>
        </p:nvSpPr>
        <p:spPr>
          <a:xfrm>
            <a:off x="1165860" y="2061179"/>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Why the tool matters, in non-technical language for any reader.</a:t>
            </a:r>
            <a:endParaRPr lang="en-US" sz="1200" dirty="0"/>
          </a:p>
        </p:txBody>
      </p:sp>
      <p:sp>
        <p:nvSpPr>
          <p:cNvPr id="7" name="Shape 4"/>
          <p:cNvSpPr/>
          <p:nvPr/>
        </p:nvSpPr>
        <p:spPr>
          <a:xfrm>
            <a:off x="548640" y="3108960"/>
            <a:ext cx="457200" cy="457200"/>
          </a:xfrm>
          <a:prstGeom prst="ellipse">
            <a:avLst/>
          </a:prstGeom>
          <a:solidFill>
            <a:srgbClr val="12233F"/>
          </a:solidFill>
          <a:ln/>
        </p:spPr>
      </p:sp>
      <p:pic>
        <p:nvPicPr>
          <p:cNvPr id="8" name="Image 1" descr="/home/claude/ppt_assets/icons/checkcircle.png"/>
          <p:cNvPicPr>
            <a:picLocks noChangeAspect="1"/>
          </p:cNvPicPr>
          <p:nvPr/>
        </p:nvPicPr>
        <p:blipFill>
          <a:blip r:embed="rId3"/>
          <a:stretch>
            <a:fillRect/>
          </a:stretch>
        </p:blipFill>
        <p:spPr>
          <a:xfrm>
            <a:off x="651510" y="3211830"/>
            <a:ext cx="251460" cy="251460"/>
          </a:xfrm>
          <a:prstGeom prst="rect">
            <a:avLst/>
          </a:prstGeom>
        </p:spPr>
      </p:pic>
      <p:sp>
        <p:nvSpPr>
          <p:cNvPr id="9" name="Text 5"/>
          <p:cNvSpPr/>
          <p:nvPr/>
        </p:nvSpPr>
        <p:spPr>
          <a:xfrm>
            <a:off x="1188720" y="2964009"/>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3-step “How it works” and a benefits list.</a:t>
            </a:r>
            <a:endParaRPr lang="en-US" sz="1200" dirty="0"/>
          </a:p>
        </p:txBody>
      </p:sp>
      <p:sp>
        <p:nvSpPr>
          <p:cNvPr id="10" name="Shape 6"/>
          <p:cNvSpPr/>
          <p:nvPr/>
        </p:nvSpPr>
        <p:spPr>
          <a:xfrm>
            <a:off x="548640" y="4069080"/>
            <a:ext cx="457200" cy="457200"/>
          </a:xfrm>
          <a:prstGeom prst="ellipse">
            <a:avLst/>
          </a:prstGeom>
          <a:solidFill>
            <a:srgbClr val="12233F"/>
          </a:solidFill>
          <a:ln/>
        </p:spPr>
      </p:sp>
      <p:pic>
        <p:nvPicPr>
          <p:cNvPr id="11" name="Image 2" descr="/home/claude/ppt_assets/icons/checkcircle.png"/>
          <p:cNvPicPr>
            <a:picLocks noChangeAspect="1"/>
          </p:cNvPicPr>
          <p:nvPr/>
        </p:nvPicPr>
        <p:blipFill>
          <a:blip r:embed="rId3"/>
          <a:stretch>
            <a:fillRect/>
          </a:stretch>
        </p:blipFill>
        <p:spPr>
          <a:xfrm>
            <a:off x="651510" y="4171950"/>
            <a:ext cx="251460" cy="251460"/>
          </a:xfrm>
          <a:prstGeom prst="rect">
            <a:avLst/>
          </a:prstGeom>
        </p:spPr>
      </p:pic>
      <p:sp>
        <p:nvSpPr>
          <p:cNvPr id="12" name="Text 7"/>
          <p:cNvSpPr/>
          <p:nvPr/>
        </p:nvSpPr>
        <p:spPr>
          <a:xfrm>
            <a:off x="1188720" y="3955573"/>
            <a:ext cx="4480560" cy="82296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A clear disclaimer: supports investigators, doesn't replace their judgement.</a:t>
            </a:r>
            <a:endParaRPr lang="en-US" sz="1200" dirty="0"/>
          </a:p>
        </p:txBody>
      </p:sp>
      <p:sp>
        <p:nvSpPr>
          <p:cNvPr id="13" name="Shape 8"/>
          <p:cNvSpPr/>
          <p:nvPr/>
        </p:nvSpPr>
        <p:spPr>
          <a:xfrm>
            <a:off x="5646420" y="1020956"/>
            <a:ext cx="6217920" cy="4892040"/>
          </a:xfrm>
          <a:prstGeom prst="roundRect">
            <a:avLst>
              <a:gd name="adj" fmla="val 1495"/>
            </a:avLst>
          </a:prstGeom>
          <a:solidFill>
            <a:srgbClr val="0C1220"/>
          </a:solidFill>
          <a:ln w="12700">
            <a:solidFill>
              <a:srgbClr val="1E293B"/>
            </a:solidFill>
            <a:prstDash val="solid"/>
          </a:ln>
        </p:spPr>
        <p:txBody>
          <a:bodyPr/>
          <a:lstStyle/>
          <a:p>
            <a:endParaRPr lang="en-IN" dirty="0"/>
          </a:p>
        </p:txBody>
      </p:sp>
      <p:pic>
        <p:nvPicPr>
          <p:cNvPr id="14" name="Image 3" descr="/home/claude/shots/about_top.png"/>
          <p:cNvPicPr>
            <a:picLocks noChangeAspect="1"/>
          </p:cNvPicPr>
          <p:nvPr/>
        </p:nvPicPr>
        <p:blipFill>
          <a:blip r:embed="rId4"/>
          <a:srcRect/>
          <a:stretch/>
        </p:blipFill>
        <p:spPr>
          <a:xfrm>
            <a:off x="5783580" y="1154430"/>
            <a:ext cx="5943600" cy="4617720"/>
          </a:xfrm>
          <a:prstGeom prst="rect">
            <a:avLst/>
          </a:prstGeom>
        </p:spPr>
      </p:pic>
      <p:sp>
        <p:nvSpPr>
          <p:cNvPr id="15" name="Text 9"/>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16" name="Text 10"/>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300" dirty="0">
                <a:solidFill>
                  <a:srgbClr val="3B82F6"/>
                </a:solidFill>
                <a:latin typeface="Courier New" pitchFamily="34" charset="0"/>
                <a:ea typeface="Courier New" pitchFamily="34" charset="-122"/>
                <a:cs typeface="Courier New" pitchFamily="34" charset="-120"/>
              </a:rPr>
              <a:t>WHAT'S NEXT</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Limitations &amp; Future Scope</a:t>
            </a:r>
            <a:endParaRPr lang="en-US" sz="3200" dirty="0"/>
          </a:p>
        </p:txBody>
      </p:sp>
      <p:sp>
        <p:nvSpPr>
          <p:cNvPr id="4" name="Shape 2"/>
          <p:cNvSpPr/>
          <p:nvPr/>
        </p:nvSpPr>
        <p:spPr>
          <a:xfrm>
            <a:off x="548640" y="2103120"/>
            <a:ext cx="5212080" cy="4023360"/>
          </a:xfrm>
          <a:prstGeom prst="roundRect">
            <a:avLst>
              <a:gd name="adj" fmla="val 1818"/>
            </a:avLst>
          </a:prstGeom>
          <a:solidFill>
            <a:srgbClr val="3A1414"/>
          </a:solidFill>
          <a:ln w="12700">
            <a:solidFill>
              <a:srgbClr val="EF4444"/>
            </a:solidFill>
            <a:prstDash val="solid"/>
          </a:ln>
        </p:spPr>
        <p:txBody>
          <a:bodyPr/>
          <a:lstStyle/>
          <a:p>
            <a:endParaRPr lang="en-IN" dirty="0"/>
          </a:p>
        </p:txBody>
      </p:sp>
      <p:sp>
        <p:nvSpPr>
          <p:cNvPr id="5" name="Shape 3"/>
          <p:cNvSpPr/>
          <p:nvPr/>
        </p:nvSpPr>
        <p:spPr>
          <a:xfrm>
            <a:off x="868680" y="2377440"/>
            <a:ext cx="548640" cy="548640"/>
          </a:xfrm>
          <a:prstGeom prst="ellipse">
            <a:avLst/>
          </a:prstGeom>
          <a:solidFill>
            <a:srgbClr val="2A1414"/>
          </a:solidFill>
          <a:ln/>
        </p:spPr>
      </p:sp>
      <p:pic>
        <p:nvPicPr>
          <p:cNvPr id="6" name="Image 0" descr="/home/claude/ppt_assets/icons/alert.png"/>
          <p:cNvPicPr>
            <a:picLocks noChangeAspect="1"/>
          </p:cNvPicPr>
          <p:nvPr/>
        </p:nvPicPr>
        <p:blipFill>
          <a:blip r:embed="rId3"/>
          <a:stretch>
            <a:fillRect/>
          </a:stretch>
        </p:blipFill>
        <p:spPr>
          <a:xfrm>
            <a:off x="1000354" y="2509114"/>
            <a:ext cx="285293" cy="285293"/>
          </a:xfrm>
          <a:prstGeom prst="rect">
            <a:avLst/>
          </a:prstGeom>
        </p:spPr>
      </p:pic>
      <p:sp>
        <p:nvSpPr>
          <p:cNvPr id="7" name="Text 4"/>
          <p:cNvSpPr/>
          <p:nvPr/>
        </p:nvSpPr>
        <p:spPr>
          <a:xfrm>
            <a:off x="1554480" y="2423160"/>
            <a:ext cx="40233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Current Limitations</a:t>
            </a:r>
            <a:endParaRPr lang="en-US" sz="1500" dirty="0"/>
          </a:p>
        </p:txBody>
      </p:sp>
      <p:sp>
        <p:nvSpPr>
          <p:cNvPr id="8" name="Text 5"/>
          <p:cNvSpPr/>
          <p:nvPr/>
        </p:nvSpPr>
        <p:spPr>
          <a:xfrm>
            <a:off x="868680" y="3108960"/>
            <a:ext cx="4572000" cy="502920"/>
          </a:xfrm>
          <a:prstGeom prst="rect">
            <a:avLst/>
          </a:prstGeom>
          <a:noFill/>
          <a:ln/>
        </p:spPr>
        <p:txBody>
          <a:bodyPr wrap="square" rtlCol="0" anchor="t"/>
          <a:lstStyle/>
          <a:p>
            <a:r>
              <a:rPr lang="en-US" sz="1150" dirty="0">
                <a:solidFill>
                  <a:schemeClr val="bg1"/>
                </a:solidFill>
                <a:latin typeface="Calibri" pitchFamily="34" charset="0"/>
                <a:ea typeface="Calibri" pitchFamily="34" charset="-122"/>
                <a:cs typeface="Calibri" pitchFamily="34" charset="-120"/>
              </a:rPr>
              <a:t>• </a:t>
            </a:r>
            <a:r>
              <a:rPr lang="en-IN" sz="1200" dirty="0">
                <a:solidFill>
                  <a:schemeClr val="bg1"/>
                </a:solidFill>
              </a:rPr>
              <a:t>Trained on a limited dataset</a:t>
            </a:r>
            <a:endParaRPr lang="en-US" sz="1150" dirty="0">
              <a:solidFill>
                <a:schemeClr val="bg1"/>
              </a:solidFill>
            </a:endParaRPr>
          </a:p>
        </p:txBody>
      </p:sp>
      <p:sp>
        <p:nvSpPr>
          <p:cNvPr id="9" name="Text 6"/>
          <p:cNvSpPr/>
          <p:nvPr/>
        </p:nvSpPr>
        <p:spPr>
          <a:xfrm>
            <a:off x="868680" y="3675888"/>
            <a:ext cx="4572000" cy="502920"/>
          </a:xfrm>
          <a:prstGeom prst="rect">
            <a:avLst/>
          </a:prstGeom>
          <a:noFill/>
          <a:ln/>
        </p:spPr>
        <p:txBody>
          <a:bodyPr wrap="square" rtlCol="0" anchor="t"/>
          <a:lstStyle/>
          <a:p>
            <a:r>
              <a:rPr lang="en-US" sz="1150" dirty="0">
                <a:solidFill>
                  <a:schemeClr val="bg1"/>
                </a:solidFill>
                <a:latin typeface="Calibri" pitchFamily="34" charset="0"/>
                <a:ea typeface="Calibri" pitchFamily="34" charset="-122"/>
                <a:cs typeface="Calibri" pitchFamily="34" charset="-120"/>
              </a:rPr>
              <a:t>• </a:t>
            </a:r>
            <a:r>
              <a:rPr lang="en-IN" sz="1200" dirty="0">
                <a:solidFill>
                  <a:schemeClr val="bg1"/>
                </a:solidFill>
              </a:rPr>
              <a:t>No real-time police database integration</a:t>
            </a:r>
            <a:endParaRPr lang="en-US" sz="1150" dirty="0">
              <a:solidFill>
                <a:schemeClr val="bg1"/>
              </a:solidFill>
            </a:endParaRPr>
          </a:p>
        </p:txBody>
      </p:sp>
      <p:sp>
        <p:nvSpPr>
          <p:cNvPr id="10" name="Text 7"/>
          <p:cNvSpPr/>
          <p:nvPr/>
        </p:nvSpPr>
        <p:spPr>
          <a:xfrm>
            <a:off x="868680" y="4242816"/>
            <a:ext cx="4572000" cy="502920"/>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 No authentication / multi-user support</a:t>
            </a:r>
            <a:endParaRPr lang="en-US" sz="1150" dirty="0"/>
          </a:p>
        </p:txBody>
      </p:sp>
      <p:sp>
        <p:nvSpPr>
          <p:cNvPr id="11" name="Text 8"/>
          <p:cNvSpPr/>
          <p:nvPr/>
        </p:nvSpPr>
        <p:spPr>
          <a:xfrm>
            <a:off x="868680" y="4809744"/>
            <a:ext cx="4572000" cy="502920"/>
          </a:xfrm>
          <a:prstGeom prst="rect">
            <a:avLst/>
          </a:prstGeom>
          <a:noFill/>
          <a:ln/>
        </p:spPr>
        <p:txBody>
          <a:bodyPr wrap="square" rtlCol="0" anchor="t"/>
          <a:lstStyle/>
          <a:p>
            <a:r>
              <a:rPr lang="en-US" sz="1150" dirty="0">
                <a:solidFill>
                  <a:schemeClr val="bg1"/>
                </a:solidFill>
                <a:latin typeface="Calibri" pitchFamily="34" charset="0"/>
                <a:ea typeface="Calibri" pitchFamily="34" charset="-122"/>
                <a:cs typeface="Calibri" pitchFamily="34" charset="-120"/>
              </a:rPr>
              <a:t>• </a:t>
            </a:r>
            <a:r>
              <a:rPr lang="en-IN" sz="1200" dirty="0">
                <a:solidFill>
                  <a:schemeClr val="bg1"/>
                </a:solidFill>
              </a:rPr>
              <a:t>Case history stored locally</a:t>
            </a:r>
            <a:endParaRPr lang="en-US" sz="1150" dirty="0">
              <a:solidFill>
                <a:schemeClr val="bg1"/>
              </a:solidFill>
            </a:endParaRPr>
          </a:p>
        </p:txBody>
      </p:sp>
      <p:sp>
        <p:nvSpPr>
          <p:cNvPr id="12" name="Shape 9"/>
          <p:cNvSpPr/>
          <p:nvPr/>
        </p:nvSpPr>
        <p:spPr>
          <a:xfrm>
            <a:off x="6035040" y="2103120"/>
            <a:ext cx="5577840" cy="4023360"/>
          </a:xfrm>
          <a:prstGeom prst="roundRect">
            <a:avLst>
              <a:gd name="adj" fmla="val 1818"/>
            </a:avLst>
          </a:prstGeom>
          <a:solidFill>
            <a:srgbClr val="12233F"/>
          </a:solidFill>
          <a:ln w="12700">
            <a:solidFill>
              <a:srgbClr val="3B82F6"/>
            </a:solidFill>
            <a:prstDash val="solid"/>
          </a:ln>
        </p:spPr>
      </p:sp>
      <p:sp>
        <p:nvSpPr>
          <p:cNvPr id="13" name="Shape 10"/>
          <p:cNvSpPr/>
          <p:nvPr/>
        </p:nvSpPr>
        <p:spPr>
          <a:xfrm>
            <a:off x="6355080" y="2377440"/>
            <a:ext cx="548640" cy="548640"/>
          </a:xfrm>
          <a:prstGeom prst="ellipse">
            <a:avLst/>
          </a:prstGeom>
          <a:solidFill>
            <a:srgbClr val="0E2A4F"/>
          </a:solidFill>
          <a:ln/>
        </p:spPr>
      </p:sp>
      <p:pic>
        <p:nvPicPr>
          <p:cNvPr id="14" name="Image 1" descr="/home/claude/ppt_assets/icons/rocket.png"/>
          <p:cNvPicPr>
            <a:picLocks noChangeAspect="1"/>
          </p:cNvPicPr>
          <p:nvPr/>
        </p:nvPicPr>
        <p:blipFill>
          <a:blip r:embed="rId4"/>
          <a:stretch>
            <a:fillRect/>
          </a:stretch>
        </p:blipFill>
        <p:spPr>
          <a:xfrm>
            <a:off x="6486754" y="2509114"/>
            <a:ext cx="285293" cy="285293"/>
          </a:xfrm>
          <a:prstGeom prst="rect">
            <a:avLst/>
          </a:prstGeom>
        </p:spPr>
      </p:pic>
      <p:sp>
        <p:nvSpPr>
          <p:cNvPr id="15" name="Text 11"/>
          <p:cNvSpPr/>
          <p:nvPr/>
        </p:nvSpPr>
        <p:spPr>
          <a:xfrm>
            <a:off x="7040880" y="2423160"/>
            <a:ext cx="438912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Planned Enhancements</a:t>
            </a:r>
            <a:endParaRPr lang="en-US" sz="1500" dirty="0"/>
          </a:p>
        </p:txBody>
      </p:sp>
      <p:sp>
        <p:nvSpPr>
          <p:cNvPr id="16" name="Text 12"/>
          <p:cNvSpPr/>
          <p:nvPr/>
        </p:nvSpPr>
        <p:spPr>
          <a:xfrm>
            <a:off x="6355080" y="3108960"/>
            <a:ext cx="5029200" cy="502920"/>
          </a:xfrm>
          <a:prstGeom prst="rect">
            <a:avLst/>
          </a:prstGeom>
          <a:noFill/>
          <a:ln/>
        </p:spPr>
        <p:txBody>
          <a:bodyPr wrap="square" rtlCol="0" anchor="t"/>
          <a:lstStyle/>
          <a:p>
            <a:r>
              <a:rPr lang="en-US" sz="1150" dirty="0">
                <a:solidFill>
                  <a:schemeClr val="bg1"/>
                </a:solidFill>
                <a:latin typeface="Calibri" pitchFamily="34" charset="0"/>
                <a:ea typeface="Calibri" pitchFamily="34" charset="-122"/>
                <a:cs typeface="Calibri" pitchFamily="34" charset="-120"/>
              </a:rPr>
              <a:t>• </a:t>
            </a:r>
            <a:r>
              <a:rPr lang="en-IN" sz="1200" dirty="0">
                <a:solidFill>
                  <a:schemeClr val="bg1"/>
                </a:solidFill>
              </a:rPr>
              <a:t>Live Police Database</a:t>
            </a:r>
            <a:endParaRPr lang="en-US" sz="1150" dirty="0">
              <a:solidFill>
                <a:schemeClr val="bg1"/>
              </a:solidFill>
            </a:endParaRPr>
          </a:p>
        </p:txBody>
      </p:sp>
      <p:sp>
        <p:nvSpPr>
          <p:cNvPr id="17" name="Text 13"/>
          <p:cNvSpPr/>
          <p:nvPr/>
        </p:nvSpPr>
        <p:spPr>
          <a:xfrm>
            <a:off x="6355080" y="3675888"/>
            <a:ext cx="5029200" cy="502920"/>
          </a:xfrm>
          <a:prstGeom prst="rect">
            <a:avLst/>
          </a:prstGeom>
          <a:noFill/>
          <a:ln/>
        </p:spPr>
        <p:txBody>
          <a:bodyPr wrap="square" rtlCol="0" anchor="t"/>
          <a:lstStyle/>
          <a:p>
            <a:r>
              <a:rPr lang="en-US" sz="1200" dirty="0">
                <a:solidFill>
                  <a:schemeClr val="bg1"/>
                </a:solidFill>
                <a:latin typeface="Calibri" pitchFamily="34" charset="0"/>
                <a:ea typeface="Calibri" pitchFamily="34" charset="-122"/>
                <a:cs typeface="Calibri" pitchFamily="34" charset="-120"/>
              </a:rPr>
              <a:t>• </a:t>
            </a:r>
            <a:r>
              <a:rPr lang="en-IN" sz="1200" dirty="0">
                <a:solidFill>
                  <a:schemeClr val="bg1"/>
                </a:solidFill>
              </a:rPr>
              <a:t>Crime Trend Analytics Dashboard</a:t>
            </a:r>
            <a:endParaRPr lang="en-US" sz="1150" dirty="0">
              <a:solidFill>
                <a:schemeClr val="bg1"/>
              </a:solidFill>
            </a:endParaRPr>
          </a:p>
        </p:txBody>
      </p:sp>
      <p:sp>
        <p:nvSpPr>
          <p:cNvPr id="18" name="Text 14"/>
          <p:cNvSpPr/>
          <p:nvPr/>
        </p:nvSpPr>
        <p:spPr>
          <a:xfrm>
            <a:off x="6355080" y="4242816"/>
            <a:ext cx="5029200" cy="502920"/>
          </a:xfrm>
          <a:prstGeom prst="rect">
            <a:avLst/>
          </a:prstGeom>
          <a:noFill/>
          <a:ln/>
        </p:spPr>
        <p:txBody>
          <a:bodyPr wrap="square" rtlCol="0" anchor="t"/>
          <a:lstStyle/>
          <a:p>
            <a:r>
              <a:rPr lang="en-US" sz="1150" dirty="0">
                <a:solidFill>
                  <a:schemeClr val="bg1"/>
                </a:solidFill>
                <a:latin typeface="Calibri" pitchFamily="34" charset="0"/>
                <a:ea typeface="Calibri" pitchFamily="34" charset="-122"/>
                <a:cs typeface="Calibri" pitchFamily="34" charset="-120"/>
              </a:rPr>
              <a:t>• </a:t>
            </a:r>
            <a:r>
              <a:rPr lang="en-IN" sz="1200" dirty="0">
                <a:solidFill>
                  <a:schemeClr val="bg1"/>
                </a:solidFill>
              </a:rPr>
              <a:t>User Authentication &amp; Role Management</a:t>
            </a:r>
            <a:endParaRPr lang="en-US" sz="1150" dirty="0">
              <a:solidFill>
                <a:schemeClr val="bg1"/>
              </a:solidFill>
            </a:endParaRPr>
          </a:p>
        </p:txBody>
      </p:sp>
      <p:sp>
        <p:nvSpPr>
          <p:cNvPr id="19" name="Text 15"/>
          <p:cNvSpPr/>
          <p:nvPr/>
        </p:nvSpPr>
        <p:spPr>
          <a:xfrm>
            <a:off x="6355080" y="4809744"/>
            <a:ext cx="5029200" cy="502920"/>
          </a:xfrm>
          <a:prstGeom prst="rect">
            <a:avLst/>
          </a:prstGeom>
          <a:noFill/>
          <a:ln/>
        </p:spPr>
        <p:txBody>
          <a:bodyPr wrap="square" rtlCol="0" anchor="t"/>
          <a:lstStyle/>
          <a:p>
            <a:r>
              <a:rPr lang="en-US" sz="1150" dirty="0">
                <a:solidFill>
                  <a:schemeClr val="bg1"/>
                </a:solidFill>
                <a:latin typeface="Calibri" pitchFamily="34" charset="0"/>
                <a:ea typeface="Calibri" pitchFamily="34" charset="-122"/>
                <a:cs typeface="Calibri" pitchFamily="34" charset="-120"/>
              </a:rPr>
              <a:t>• </a:t>
            </a:r>
            <a:r>
              <a:rPr lang="en-IN" sz="1200" dirty="0">
                <a:solidFill>
                  <a:schemeClr val="bg1"/>
                </a:solidFill>
              </a:rPr>
              <a:t>Real-time Crime Analytics</a:t>
            </a:r>
            <a:endParaRPr lang="en-US" sz="1150" dirty="0">
              <a:solidFill>
                <a:schemeClr val="bg1"/>
              </a:solidFill>
            </a:endParaRPr>
          </a:p>
        </p:txBody>
      </p:sp>
      <p:sp>
        <p:nvSpPr>
          <p:cNvPr id="20" name="Text 16"/>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21" name="Text 17"/>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3"/>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3B82F6"/>
                </a:solidFill>
                <a:effectLst/>
                <a:uLnTx/>
                <a:uFillTx/>
                <a:latin typeface="Courier New" pitchFamily="34" charset="0"/>
                <a:ea typeface="Courier New" pitchFamily="34" charset="-122"/>
                <a:cs typeface="Courier New"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713232"/>
            <a:ext cx="1078992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Bringing It All Together</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508760"/>
            <a:ext cx="1078992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1"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CrimeGuard AI successfully predicts crime resolution likelihood using a tuned Logistic Regression model, wrapped in a full-stack, investigator-ready web application.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2423160"/>
            <a:ext cx="2971342" cy="1965960"/>
          </a:xfrm>
          <a:prstGeom prst="roundRect">
            <a:avLst>
              <a:gd name="adj" fmla="val 3721"/>
            </a:avLst>
          </a:prstGeom>
          <a:solidFill>
            <a:srgbClr val="10182B"/>
          </a:solidFill>
          <a:ln w="12700">
            <a:solidFill>
              <a:srgbClr val="1E293B"/>
            </a:solidFill>
            <a:prstDash val="solid"/>
          </a:ln>
        </p:spPr>
      </p:sp>
      <p:sp>
        <p:nvSpPr>
          <p:cNvPr id="6" name="Shape 4"/>
          <p:cNvSpPr/>
          <p:nvPr/>
        </p:nvSpPr>
        <p:spPr>
          <a:xfrm>
            <a:off x="748893" y="2596896"/>
            <a:ext cx="566928" cy="566928"/>
          </a:xfrm>
          <a:prstGeom prst="ellipse">
            <a:avLst/>
          </a:prstGeom>
          <a:solidFill>
            <a:srgbClr val="12233F"/>
          </a:solidFill>
          <a:ln/>
        </p:spPr>
      </p:sp>
      <p:pic>
        <p:nvPicPr>
          <p:cNvPr id="7" name="Image 0" descr="/home/claude/ppt_assets/icons/checkcircle.png"/>
          <p:cNvPicPr>
            <a:picLocks noChangeAspect="1"/>
          </p:cNvPicPr>
          <p:nvPr/>
        </p:nvPicPr>
        <p:blipFill>
          <a:blip r:embed="rId3"/>
          <a:stretch>
            <a:fillRect/>
          </a:stretch>
        </p:blipFill>
        <p:spPr>
          <a:xfrm>
            <a:off x="878823" y="2724455"/>
            <a:ext cx="311810" cy="311810"/>
          </a:xfrm>
          <a:prstGeom prst="rect">
            <a:avLst/>
          </a:prstGeom>
        </p:spPr>
      </p:pic>
      <p:sp>
        <p:nvSpPr>
          <p:cNvPr id="8" name="Text 5"/>
          <p:cNvSpPr/>
          <p:nvPr/>
        </p:nvSpPr>
        <p:spPr>
          <a:xfrm>
            <a:off x="731520" y="3271012"/>
            <a:ext cx="2176272"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End-to-End ML Pipeline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726262" y="3666744"/>
            <a:ext cx="217627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3A7"/>
                </a:solidFill>
                <a:effectLst/>
                <a:uLnTx/>
                <a:uFillTx/>
                <a:latin typeface="Calibri" pitchFamily="34" charset="0"/>
                <a:ea typeface="Calibri" pitchFamily="34" charset="-122"/>
                <a:cs typeface="Calibri" pitchFamily="34" charset="-120"/>
              </a:rPr>
              <a:t>Data cleaning → model comparison → tuning → deployment.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4131106" y="2423160"/>
            <a:ext cx="3411169" cy="1965960"/>
          </a:xfrm>
          <a:prstGeom prst="roundRect">
            <a:avLst>
              <a:gd name="adj" fmla="val 3721"/>
            </a:avLst>
          </a:prstGeom>
          <a:solidFill>
            <a:srgbClr val="10182B"/>
          </a:solidFill>
          <a:ln w="12700">
            <a:solidFill>
              <a:srgbClr val="1E293B"/>
            </a:solidFill>
            <a:prstDash val="solid"/>
          </a:ln>
        </p:spPr>
        <p:txBody>
          <a:bodyPr/>
          <a:lstStyle/>
          <a:p>
            <a:endParaRPr lang="en-IN" dirty="0"/>
          </a:p>
        </p:txBody>
      </p:sp>
      <p:sp>
        <p:nvSpPr>
          <p:cNvPr id="11" name="Shape 8"/>
          <p:cNvSpPr/>
          <p:nvPr/>
        </p:nvSpPr>
        <p:spPr>
          <a:xfrm>
            <a:off x="4310483" y="2601180"/>
            <a:ext cx="566928" cy="566928"/>
          </a:xfrm>
          <a:prstGeom prst="ellipse">
            <a:avLst/>
          </a:prstGeom>
          <a:solidFill>
            <a:srgbClr val="12233F"/>
          </a:solidFill>
          <a:ln/>
        </p:spPr>
        <p:txBody>
          <a:bodyPr/>
          <a:lstStyle/>
          <a:p>
            <a:endParaRPr lang="en-IN" dirty="0"/>
          </a:p>
        </p:txBody>
      </p:sp>
      <p:pic>
        <p:nvPicPr>
          <p:cNvPr id="12" name="Image 1" descr="/home/claude/ppt_assets/icons/monitor.png"/>
          <p:cNvPicPr>
            <a:picLocks noChangeAspect="1"/>
          </p:cNvPicPr>
          <p:nvPr/>
        </p:nvPicPr>
        <p:blipFill>
          <a:blip r:embed="rId4"/>
          <a:stretch>
            <a:fillRect/>
          </a:stretch>
        </p:blipFill>
        <p:spPr>
          <a:xfrm>
            <a:off x="4438042" y="2744589"/>
            <a:ext cx="311810" cy="311810"/>
          </a:xfrm>
          <a:prstGeom prst="rect">
            <a:avLst/>
          </a:prstGeom>
        </p:spPr>
      </p:pic>
      <p:sp>
        <p:nvSpPr>
          <p:cNvPr id="13" name="Text 9"/>
          <p:cNvSpPr/>
          <p:nvPr/>
        </p:nvSpPr>
        <p:spPr>
          <a:xfrm>
            <a:off x="4310483" y="3330160"/>
            <a:ext cx="2176272"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Fully Functional Web App</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4297451" y="3675888"/>
            <a:ext cx="217627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3A7"/>
                </a:solidFill>
                <a:effectLst/>
                <a:uLnTx/>
                <a:uFillTx/>
                <a:latin typeface="Calibri" pitchFamily="34" charset="0"/>
                <a:ea typeface="Calibri" pitchFamily="34" charset="-122"/>
                <a:cs typeface="Calibri" pitchFamily="34" charset="-120"/>
              </a:rPr>
              <a:t>Form → live prediction → risk scoring → action 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6217920" y="3337560"/>
            <a:ext cx="2176272"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6217920" y="3794760"/>
            <a:ext cx="217627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5"/>
          <p:cNvSpPr/>
          <p:nvPr/>
        </p:nvSpPr>
        <p:spPr>
          <a:xfrm>
            <a:off x="8153400" y="2423160"/>
            <a:ext cx="3166872" cy="1965960"/>
          </a:xfrm>
          <a:prstGeom prst="roundRect">
            <a:avLst>
              <a:gd name="adj" fmla="val 3721"/>
            </a:avLst>
          </a:prstGeom>
          <a:solidFill>
            <a:srgbClr val="10182B"/>
          </a:solidFill>
          <a:ln w="12700">
            <a:solidFill>
              <a:srgbClr val="1E293B"/>
            </a:solidFill>
            <a:prstDash val="solid"/>
          </a:ln>
        </p:spPr>
      </p:sp>
      <p:sp>
        <p:nvSpPr>
          <p:cNvPr id="21" name="Shape 16"/>
          <p:cNvSpPr/>
          <p:nvPr/>
        </p:nvSpPr>
        <p:spPr>
          <a:xfrm>
            <a:off x="8416823" y="2596321"/>
            <a:ext cx="566928" cy="566928"/>
          </a:xfrm>
          <a:prstGeom prst="ellipse">
            <a:avLst/>
          </a:prstGeom>
          <a:solidFill>
            <a:srgbClr val="12233F"/>
          </a:solidFill>
          <a:ln/>
        </p:spPr>
        <p:txBody>
          <a:bodyPr/>
          <a:lstStyle/>
          <a:p>
            <a:endParaRPr lang="en-IN" dirty="0"/>
          </a:p>
        </p:txBody>
      </p:sp>
      <p:pic>
        <p:nvPicPr>
          <p:cNvPr id="22" name="Image 3" descr="/home/claude/ppt_assets/icons/layers.png"/>
          <p:cNvPicPr>
            <a:picLocks noChangeAspect="1"/>
          </p:cNvPicPr>
          <p:nvPr/>
        </p:nvPicPr>
        <p:blipFill>
          <a:blip r:embed="rId5"/>
          <a:stretch>
            <a:fillRect/>
          </a:stretch>
        </p:blipFill>
        <p:spPr>
          <a:xfrm>
            <a:off x="8538438" y="2723609"/>
            <a:ext cx="311810" cy="311810"/>
          </a:xfrm>
          <a:prstGeom prst="rect">
            <a:avLst/>
          </a:prstGeom>
        </p:spPr>
      </p:pic>
      <p:sp>
        <p:nvSpPr>
          <p:cNvPr id="23" name="Text 17"/>
          <p:cNvSpPr/>
          <p:nvPr/>
        </p:nvSpPr>
        <p:spPr>
          <a:xfrm>
            <a:off x="8416823" y="3406140"/>
            <a:ext cx="2176272"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Consistent, Professional UI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p:nvPr/>
        </p:nvSpPr>
        <p:spPr>
          <a:xfrm>
            <a:off x="8394192" y="3794760"/>
            <a:ext cx="217627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3A7"/>
                </a:solidFill>
                <a:effectLst/>
                <a:uLnTx/>
                <a:uFillTx/>
                <a:latin typeface="Calibri" pitchFamily="34" charset="0"/>
                <a:ea typeface="Calibri" pitchFamily="34" charset="-122"/>
                <a:cs typeface="Calibri" pitchFamily="34" charset="-120"/>
              </a:rPr>
              <a:t>One design system across every page.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9"/>
          <p:cNvSpPr/>
          <p:nvPr/>
        </p:nvSpPr>
        <p:spPr>
          <a:xfrm>
            <a:off x="548640" y="4709160"/>
            <a:ext cx="10881360" cy="1234440"/>
          </a:xfrm>
          <a:prstGeom prst="roundRect">
            <a:avLst>
              <a:gd name="adj" fmla="val 5926"/>
            </a:avLst>
          </a:prstGeom>
          <a:solidFill>
            <a:srgbClr val="12233F"/>
          </a:solidFill>
          <a:ln w="12700">
            <a:solidFill>
              <a:srgbClr val="3B82F6"/>
            </a:solidFill>
            <a:prstDash val="solid"/>
          </a:ln>
        </p:spPr>
      </p:sp>
      <p:sp>
        <p:nvSpPr>
          <p:cNvPr id="26" name="Text 20"/>
          <p:cNvSpPr/>
          <p:nvPr/>
        </p:nvSpPr>
        <p:spPr>
          <a:xfrm>
            <a:off x="868680" y="4709160"/>
            <a:ext cx="10241280" cy="12344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2E8F0"/>
                </a:solidFill>
                <a:effectLst/>
                <a:uLnTx/>
                <a:uFillTx/>
                <a:latin typeface="Calibri" pitchFamily="34" charset="0"/>
                <a:ea typeface="Calibri" pitchFamily="34" charset="-122"/>
                <a:cs typeface="Calibri" pitchFamily="34" charset="-120"/>
              </a:rPr>
              <a:t>This project demonstrates how a trained ML model can move from a Jupyter notebook to a usable, real-time decision-support tool — directly addressing the resource-allocation problem raised at the start of this presentation.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457200" y="6519672"/>
            <a:ext cx="3657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C6478"/>
                </a:solidFill>
                <a:effectLst/>
                <a:uLnTx/>
                <a:uFillTx/>
                <a:latin typeface="Courier New" pitchFamily="34" charset="0"/>
                <a:ea typeface="Courier New" pitchFamily="34" charset="-122"/>
                <a:cs typeface="Courier New" pitchFamily="34" charset="-120"/>
              </a:rPr>
              <a:t>CRIMEGUARD AI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2"/>
          <p:cNvSpPr/>
          <p:nvPr/>
        </p:nvSpPr>
        <p:spPr>
          <a:xfrm>
            <a:off x="11277295" y="6519672"/>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478"/>
                </a:solidFill>
                <a:effectLst/>
                <a:uLnTx/>
                <a:uFillTx/>
                <a:latin typeface="Courier New" pitchFamily="34" charset="0"/>
                <a:ea typeface="Courier New" pitchFamily="34" charset="-122"/>
                <a:cs typeface="Courier New"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70B13"/>
        </a:solidFill>
        <a:effectLst/>
      </p:bgPr>
    </p:bg>
    <p:spTree>
      <p:nvGrpSpPr>
        <p:cNvPr id="1" name=""/>
        <p:cNvGrpSpPr/>
        <p:nvPr/>
      </p:nvGrpSpPr>
      <p:grpSpPr>
        <a:xfrm>
          <a:off x="0" y="0"/>
          <a:ext cx="0" cy="0"/>
          <a:chOff x="0" y="0"/>
          <a:chExt cx="0" cy="0"/>
        </a:xfrm>
      </p:grpSpPr>
      <p:sp>
        <p:nvSpPr>
          <p:cNvPr id="2" name="Shape 0"/>
          <p:cNvSpPr/>
          <p:nvPr/>
        </p:nvSpPr>
        <p:spPr>
          <a:xfrm>
            <a:off x="-1828800" y="1828800"/>
            <a:ext cx="6400800" cy="6400800"/>
          </a:xfrm>
          <a:prstGeom prst="ellipse">
            <a:avLst/>
          </a:prstGeom>
          <a:solidFill>
            <a:srgbClr val="3B82F6">
              <a:alpha val="10000"/>
            </a:srgbClr>
          </a:solidFill>
          <a:ln/>
        </p:spPr>
      </p:sp>
      <p:sp>
        <p:nvSpPr>
          <p:cNvPr id="3" name="Shape 1"/>
          <p:cNvSpPr/>
          <p:nvPr/>
        </p:nvSpPr>
        <p:spPr>
          <a:xfrm>
            <a:off x="8229600" y="-1828800"/>
            <a:ext cx="5486400" cy="5486400"/>
          </a:xfrm>
          <a:prstGeom prst="ellipse">
            <a:avLst/>
          </a:prstGeom>
          <a:solidFill>
            <a:srgbClr val="EF4444">
              <a:alpha val="8000"/>
            </a:srgbClr>
          </a:solidFill>
          <a:ln/>
        </p:spPr>
      </p:sp>
      <p:sp>
        <p:nvSpPr>
          <p:cNvPr id="4" name="Shape 2"/>
          <p:cNvSpPr/>
          <p:nvPr/>
        </p:nvSpPr>
        <p:spPr>
          <a:xfrm>
            <a:off x="5638648" y="1463040"/>
            <a:ext cx="914400" cy="914400"/>
          </a:xfrm>
          <a:prstGeom prst="ellipse">
            <a:avLst/>
          </a:prstGeom>
          <a:solidFill>
            <a:srgbClr val="12233F"/>
          </a:solidFill>
          <a:ln/>
        </p:spPr>
      </p:sp>
      <p:pic>
        <p:nvPicPr>
          <p:cNvPr id="5" name="Image 0" descr="/home/claude/ppt_assets/icons/shield.png"/>
          <p:cNvPicPr>
            <a:picLocks noChangeAspect="1"/>
          </p:cNvPicPr>
          <p:nvPr/>
        </p:nvPicPr>
        <p:blipFill>
          <a:blip r:embed="rId3"/>
          <a:stretch>
            <a:fillRect/>
          </a:stretch>
        </p:blipFill>
        <p:spPr>
          <a:xfrm>
            <a:off x="5867248" y="1691640"/>
            <a:ext cx="457200" cy="457200"/>
          </a:xfrm>
          <a:prstGeom prst="rect">
            <a:avLst/>
          </a:prstGeom>
        </p:spPr>
      </p:pic>
      <p:sp>
        <p:nvSpPr>
          <p:cNvPr id="6" name="Text 3"/>
          <p:cNvSpPr/>
          <p:nvPr/>
        </p:nvSpPr>
        <p:spPr>
          <a:xfrm>
            <a:off x="0" y="2651760"/>
            <a:ext cx="12191695" cy="82296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7" name="Text 4"/>
          <p:cNvSpPr/>
          <p:nvPr/>
        </p:nvSpPr>
        <p:spPr>
          <a:xfrm>
            <a:off x="0" y="3429000"/>
            <a:ext cx="12191695" cy="457200"/>
          </a:xfrm>
          <a:prstGeom prst="rect">
            <a:avLst/>
          </a:prstGeom>
          <a:noFill/>
          <a:ln/>
        </p:spPr>
        <p:txBody>
          <a:bodyPr wrap="square" rtlCol="0" anchor="ctr"/>
          <a:lstStyle/>
          <a:p>
            <a:pPr marL="0" indent="0" algn="ctr">
              <a:buNone/>
            </a:pPr>
            <a:r>
              <a:rPr lang="en-US" sz="1600" i="1" dirty="0">
                <a:solidFill>
                  <a:srgbClr val="8B93A7"/>
                </a:solidFill>
                <a:latin typeface="Calibri" pitchFamily="34" charset="0"/>
                <a:ea typeface="Calibri" pitchFamily="34" charset="-122"/>
                <a:cs typeface="Calibri" pitchFamily="34" charset="-120"/>
              </a:rPr>
              <a:t>Questions &amp; Discussion</a:t>
            </a:r>
            <a:endParaRPr lang="en-US" sz="1600" dirty="0"/>
          </a:p>
        </p:txBody>
      </p:sp>
      <p:sp>
        <p:nvSpPr>
          <p:cNvPr id="8" name="Shape 5"/>
          <p:cNvSpPr/>
          <p:nvPr/>
        </p:nvSpPr>
        <p:spPr>
          <a:xfrm>
            <a:off x="3444088" y="4040124"/>
            <a:ext cx="5303520" cy="566928"/>
          </a:xfrm>
          <a:prstGeom prst="roundRect">
            <a:avLst>
              <a:gd name="adj" fmla="val 12903"/>
            </a:avLst>
          </a:prstGeom>
          <a:solidFill>
            <a:srgbClr val="0C1220"/>
          </a:solidFill>
          <a:ln w="12700">
            <a:solidFill>
              <a:srgbClr val="1E293B"/>
            </a:solidFill>
            <a:prstDash val="solid"/>
          </a:ln>
        </p:spPr>
      </p:sp>
      <p:sp>
        <p:nvSpPr>
          <p:cNvPr id="9" name="Text 6"/>
          <p:cNvSpPr/>
          <p:nvPr/>
        </p:nvSpPr>
        <p:spPr>
          <a:xfrm>
            <a:off x="3444087" y="4040124"/>
            <a:ext cx="5303520" cy="566928"/>
          </a:xfrm>
          <a:prstGeom prst="rect">
            <a:avLst/>
          </a:prstGeom>
          <a:noFill/>
          <a:ln/>
        </p:spPr>
        <p:txBody>
          <a:bodyPr wrap="square" rtlCol="0" anchor="ctr"/>
          <a:lstStyle/>
          <a:p>
            <a:pPr marL="0" indent="0" algn="ctr">
              <a:buNone/>
            </a:pPr>
            <a:r>
              <a:rPr lang="en-US" sz="1000" kern="0" spc="100" dirty="0">
                <a:solidFill>
                  <a:srgbClr val="8B93A7"/>
                </a:solidFill>
                <a:latin typeface="Courier New" pitchFamily="34" charset="0"/>
                <a:ea typeface="Courier New" pitchFamily="34" charset="-122"/>
                <a:cs typeface="Courier New" pitchFamily="34" charset="-120"/>
              </a:rPr>
              <a:t>CRIMEGUARD AI  ·  CAPSTONE PROJECT  ·  MACHINE LEARNING</a:t>
            </a:r>
            <a:endParaRPr lang="en-US" sz="1000" dirty="0"/>
          </a:p>
        </p:txBody>
      </p:sp>
      <p:sp>
        <p:nvSpPr>
          <p:cNvPr id="10" name="Text 7"/>
          <p:cNvSpPr/>
          <p:nvPr/>
        </p:nvSpPr>
        <p:spPr>
          <a:xfrm>
            <a:off x="457200" y="6519672"/>
            <a:ext cx="3657600" cy="274320"/>
          </a:xfrm>
          <a:prstGeom prst="rect">
            <a:avLst/>
          </a:prstGeom>
          <a:noFill/>
          <a:ln/>
        </p:spPr>
        <p:txBody>
          <a:bodyPr wrap="square" rtlCol="0" anchor="ctr"/>
          <a:lstStyle/>
          <a:p>
            <a:pPr marL="0" indent="0">
              <a:buNone/>
            </a:pPr>
            <a:r>
              <a:rPr lang="en-US" sz="900" kern="0" spc="200" dirty="0">
                <a:solidFill>
                  <a:srgbClr val="5C6478"/>
                </a:solidFill>
                <a:latin typeface="Courier New" pitchFamily="34" charset="0"/>
                <a:ea typeface="Courier New" pitchFamily="34" charset="-122"/>
                <a:cs typeface="Courier New" pitchFamily="34" charset="-120"/>
              </a:rPr>
              <a:t>CRIMEGUARD AI</a:t>
            </a:r>
            <a:endParaRPr lang="en-US" sz="900" dirty="0"/>
          </a:p>
        </p:txBody>
      </p:sp>
      <p:sp>
        <p:nvSpPr>
          <p:cNvPr id="11" name="Text 8"/>
          <p:cNvSpPr/>
          <p:nvPr/>
        </p:nvSpPr>
        <p:spPr>
          <a:xfrm>
            <a:off x="11277295" y="6519672"/>
            <a:ext cx="457200" cy="274320"/>
          </a:xfrm>
          <a:prstGeom prst="rect">
            <a:avLst/>
          </a:prstGeom>
          <a:noFill/>
          <a:ln/>
        </p:spPr>
        <p:txBody>
          <a:bodyPr wrap="square" rtlCol="0" anchor="ctr"/>
          <a:lstStyle/>
          <a:p>
            <a:pPr marL="0" indent="0" algn="r">
              <a:buNone/>
            </a:pPr>
            <a:r>
              <a:rPr lang="en-US" sz="900" dirty="0">
                <a:solidFill>
                  <a:srgbClr val="5C6478"/>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1083</Words>
  <Application>Microsoft Office PowerPoint</Application>
  <PresentationFormat>Widescreen</PresentationFormat>
  <Paragraphs>196</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 Display</vt:lpstr>
      <vt:lpstr>Aptos Narrow</vt:lpstr>
      <vt:lpstr>Arial</vt:lpstr>
      <vt:lpstr>Berlin Sans FB Demi</vt:lpstr>
      <vt:lpstr>Calibri</vt:lpstr>
      <vt:lpstr>Courier New</vt:lpstr>
      <vt:lpstr>Franklin Gothic Demi</vt:lpstr>
      <vt:lpstr>Franklin Gothic Demi Cond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Aniket Ghantewad</cp:lastModifiedBy>
  <cp:revision>8</cp:revision>
  <dcterms:created xsi:type="dcterms:W3CDTF">2026-07-15T07:21:56Z</dcterms:created>
  <dcterms:modified xsi:type="dcterms:W3CDTF">2026-07-16T08:05:53Z</dcterms:modified>
</cp:coreProperties>
</file>